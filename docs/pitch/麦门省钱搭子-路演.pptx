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4" Type="http://schemas.openxmlformats.org/officeDocument/2006/relationships/tableStyles" Target="tableStyles.xml" /><Relationship Id="rId13" Type="http://schemas.openxmlformats.org/officeDocument/2006/relationships/presProps" Target="presProps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2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Relationship Id="rId3" Type="http://schemas.openxmlformats.org/officeDocument/2006/relationships/image" Target="media/image5.svg" /><Relationship Id="rId4" Type="http://schemas.openxmlformats.org/officeDocument/2006/relationships/image" Target="media/image6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4" Type="http://schemas.openxmlformats.org/officeDocument/2006/relationships/image" Target="media/image10.svg" /><Relationship Id="rId2" Type="http://schemas.openxmlformats.org/officeDocument/2006/relationships/image" Target="media/image7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Relationship Id="rId3" Type="http://schemas.openxmlformats.org/officeDocument/2006/relationships/image" Target="media/image9.svg" /><Relationship Id="rId5" Type="http://schemas.openxmlformats.org/officeDocument/2006/relationships/image" Target="media/image11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3.svg" /><Relationship Id="rId1" Type="http://schemas.openxmlformats.org/officeDocument/2006/relationships/image" Target="media/image12.svg" /><Relationship Id="rId3" Type="http://schemas.openxmlformats.org/officeDocument/2006/relationships/image" Target="media/image14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svg" /><Relationship Id="rId1" Type="http://schemas.openxmlformats.org/officeDocument/2006/relationships/image" Target="media/image1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padding: 0, background: 'linear-gradient(135deg, #DA291C 0%, #B31F14 100%)', position: 'relative', overflow: 'hidden' }}&gt;&#10;  {/* 背景装饰：黄色圆弧 */}&#10;  &lt;Box style={{ position: 'absolute', top: 36, right: 64, width: 240, height: 240, borderRadius: 120, border: '34px solid rgba(255,199,44,0.30)' }} /&gt;&#10;  &lt;Box style={{ position: 'absolute', bottom: 120, right: 150, width: 130, height: 130, borderRadius: 65, border: '22px solid rgba(255,255,255,0.12)' }} /&gt;&#10;&#10;  {/* 顶部赛事标签 */}&#10;  &lt;Box style={{ position: 'absolute', top: 52, left: 80, flexDirection: 'row', alignItems: 'center', gap: 12 }}&gt;&#10;    &lt;Box style={{ width: 10, height: 10, borderRadius: 5, background: '#FFC72C' }} /&gt;&#10;    &lt;Text style={{ fontSize: 18, color: 'rgba(255,255,255,0.85)', letterSpacing: 2 }}&gt;WaytoAGI 1024 切磋大会 · 用餐赛道参赛作品&lt;/Text&gt;&#10;  &lt;/Box&gt;&#10;&#10;  {/* 主标题区 */}&#10;  &lt;Box style={{ position: 'absolute', left: 80, top: 170, width: 900 }}&gt;&#10;    &lt;Text style={{ fontSize: 88, fontWeight: 'bold', color: '#FFFFFF', letterSpacing: 4, lineHeight: 1.15 }}&gt;麦门省钱搭子&lt;/Text&gt;&#10;    &lt;Box style={{ width: 132, height: 8, borderRadius: 4, background: '#FFC72C', marginTop: 26 }} /&gt;&#10;    &lt;Text style={{ fontSize: 24, color: 'rgba(255,255,255,0.92)', marginTop: 30, lineHeight: 1.6 }}&gt;&#10;      给一个预算，它去麦当劳真实菜单里，挑出&lt;span style={{ fontWeight: 'bold', color: '#FFC72C' }}&gt;这个结构下的最低价&lt;/span&gt;&#10;    &lt;/Text&gt;&#10;  &lt;/Box&gt;&#10;&#10;  {/* 右侧：真实算价示例卡（预览产品输出） */}&#10;  &lt;Box style={{ position: 'absolute', right: 76, top: 158, width: 330, background: '#FFFFFF', borderRadius: 16, padding: '22px 24px', boxShadow: '0 12px 32px rgba(0,0,0,0.22)' }}&gt;&#10;    &lt;Box style={{ background: '#DA291C', borderRadius: 8, padding: '7px 14px', alignItems: 'center' }}&gt;&#10;      &lt;Text style={{ fontSize: 14, fontWeight: 'bold', color: '#FFFFFF', letterSpacing: 1 }}&gt;真实算价示例 · 结构 1/1/1/1&lt;/Text&gt;&#10;    &lt;/Box&gt;&#10;    &lt;Box style={{ marginTop: 14, gap: 8 }}&gt;&#10;      &lt;Text style={{ fontSize: 16, color: '#1A1A1A' }}&gt;🍔 牛肉堡单品精选　　¥13.50&lt;/Text&gt;&#10;      &lt;Text style={{ fontSize: 16, color: '#1A1A1A' }}&gt;🍟 苹果片　　　　　　¥7.00&lt;/Text&gt;&#10;      &lt;Text style={{ fontSize: 16, color: '#1A1A1A' }}&gt;🍦 灰焰圆筒　　　　　¥5.00&lt;/Text&gt;&#10;      &lt;Text style={{ fontSize: 16, color: '#1A1A1A' }}&gt;🥤 雪碧　　　　　　　¥9.50&lt;/Text&gt;&#10;    &lt;/Box&gt;&#10;    &lt;Box style={{ borderTop: '2px dashed #E5E7EB', marginTop: 14, paddingTop: 12, flexDirection: 'row', justifyContent: 'space-between', alignItems: 'flex-end' }}&gt;&#10;      &lt;Text style={{ fontSize: 14, color: '#9CA3AF' }}&gt;实付&lt;/Text&gt;&#10;      &lt;Text style={{ fontSize: 42, fontWeight: 'bold', color: '#DA291C', lineHeight: 1 }}&gt;¥35.00&lt;/Text&gt;&#10;    &lt;/Box&gt;&#10;    &lt;Text style={{ fontSize: 13, color: '#9CA3AF', marginTop: 10 }}&gt;预算 ¥100 · 预算内还余 ¥65.00&lt;/Text&gt;&#10;  &lt;/Box&gt;&#10;&#10;  {/* 黄色横带：三个关键词 */}&#10;  &lt;Box style={{ position: 'absolute', left: 80, bottom: 150, flexDirection: 'row', alignItems: 'center', gap: 18 }}&gt;&#10;    &lt;Box style={{ background: '#FFC72C', borderRadius: 10, padding: '12px 26px' }}&gt;&#10;      &lt;Text style={{ fontSize: 22, fontWeight: 'bold', color: '#B31F14' }}&gt;结构指定 · 求最低价&lt;/Text&gt;&#10;    &lt;/Box&gt;&#10;    &lt;Box style={{ background: '#FFC72C', borderRadius: 10, padding: '12px 26px' }}&gt;&#10;      &lt;Text style={{ fontSize: 22, fontWeight: 'bold', color: '#B31F14' }}&gt;想吃优先&lt;/Text&gt;&#10;    &lt;/Box&gt;&#10;    &lt;Box style={{ background: '#FFC72C', borderRadius: 10, padding: '12px 26px' }}&gt;&#10;      &lt;Text style={{ fontSize: 22, fontWeight: 'bold', color: '#B31F14' }}&gt;美食转盘&lt;/Text&gt;&#10;    &lt;/Box&gt;&#10;  &lt;/Box&gt;&#10;&#10;  {/* 底部署名 */}&#10;  &lt;Box style={{ position: 'absolute', left: 80, bottom: 64, flexDirection: 'row', alignItems: 'center', gap: 16 }}&gt;&#10;    &lt;Text style={{ fontSize: 17, color: 'rgba(255,255,255,0.75)' }}&gt;WorkBuddy × DSH 双智能体协作开发 · 2026 年 10 月&lt;/Text&gt;&#10;  &lt;/Box&gt;&#10;  &lt;Text style={{ position: 'absolute', right: 80, bottom: 64, fontSize: 17, color: 'rgba(255,255,255,0.75)' }}&gt;真实调用麦当劳 MCP · 35 个工具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A291C"/>
              </a:gs>
              <a:gs pos="100000">
                <a:srgbClr val="B31F1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296400" y="342900"/>
            <a:ext cx="2286000" cy="2286000"/>
          </a:xfrm>
          <a:prstGeom prst="roundRect">
            <a:avLst>
              <a:gd name="adj" fmla="val 50000"/>
            </a:avLst>
          </a:prstGeom>
          <a:ln w="431800">
            <a:solidFill>
              <a:srgbClr val="FFC72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9525000" y="4476750"/>
            <a:ext cx="1238250" cy="1238250"/>
          </a:xfrm>
          <a:prstGeom prst="roundRect">
            <a:avLst>
              <a:gd name="adj" fmla="val 50000"/>
            </a:avLst>
          </a:prstGeom>
          <a:ln w="2794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62000" y="552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71550" y="495300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WaytoAGI 1024 </a:t>
            </a:r>
            <a:r>
              <a:rPr lang="zh-CN" sz="1350" spc="1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切磋大会</a:t>
            </a:r>
            <a:r>
              <a:rPr lang="en-US" sz="1350" spc="1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1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用餐赛道参赛作品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1619250"/>
            <a:ext cx="85725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6600" b="1" spc="300">
                <a:solidFill>
                  <a:srgbClr val="FFFFFF"/>
                </a:solidFill>
                <a:latin typeface="Microsoft YaHei"/>
                <a:ea typeface="Microsoft YaHei"/>
              </a:rPr>
              <a:t>麦门省钱搭子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3028950"/>
            <a:ext cx="1257300" cy="762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3390900"/>
            <a:ext cx="85725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给一个预算，它去麦当劳真实菜单里，挑出</a:t>
            </a:r>
            <a:r>
              <a:rPr lang="zh-CN" sz="1800" b="1">
                <a:solidFill>
                  <a:srgbClr val="FFC72C"/>
                </a:solidFill>
                <a:latin typeface="Microsoft YaHei"/>
                <a:ea typeface="Microsoft YaHei"/>
              </a:rPr>
              <a:t>这个结构下的最低价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324850" y="1504950"/>
            <a:ext cx="3143250" cy="283845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/>
          <a:effectLst>
            <a:outerShdw blurRad="304800" dist="1143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8553450" y="1714500"/>
            <a:ext cx="2686050" cy="295275"/>
          </a:xfrm>
          <a:prstGeom prst="roundRect">
            <a:avLst>
              <a:gd name="adj" fmla="val 25806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924925" y="1781175"/>
            <a:ext cx="195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真实算价示例</a:t>
            </a:r>
            <a:r>
              <a:rPr lang="en-US" sz="105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结构</a:t>
            </a:r>
            <a:r>
              <a:rPr lang="en-US" sz="105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1/1/1/1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553450" y="2143125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🍔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牛肉堡单品精选　　¥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13.50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553450" y="2409825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🍟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苹果片　　　　　　¥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7.00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53450" y="2676525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🍦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灰焰圆筒　　　　　¥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5.00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553450" y="2943225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🥤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雪碧　　　　　　　¥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9.50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553450" y="3267075"/>
            <a:ext cx="2686050" cy="638175"/>
          </a:xfrm>
          <a:custGeom>
            <a:pathLst>
              <a:path w="282" h="67">
                <a:moveTo>
                  <a:pt x="0" y="0"/>
                </a:moveTo>
                <a:lnTo>
                  <a:pt x="282" y="0"/>
                </a:lnTo>
                <a:lnTo>
                  <a:pt x="282" y="2"/>
                </a:lnTo>
                <a:lnTo>
                  <a:pt x="0" y="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553450" y="37242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实付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886950" y="3400425"/>
            <a:ext cx="13525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DA291C"/>
                </a:solidFill>
                <a:latin typeface="Microsoft YaHei"/>
                <a:ea typeface="Microsoft YaHei"/>
              </a:rPr>
              <a:t>¥35.00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553450" y="3981450"/>
            <a:ext cx="2686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预算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 xml:space="preserve"> ¥100 · 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预算内还余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 xml:space="preserve"> ¥65.00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762000" y="4943475"/>
            <a:ext cx="2390775" cy="485775"/>
          </a:xfrm>
          <a:prstGeom prst="roundRect">
            <a:avLst>
              <a:gd name="adj" fmla="val 19608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09650" y="5057775"/>
            <a:ext cx="1895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31F14"/>
                </a:solidFill>
                <a:latin typeface="Microsoft YaHei"/>
                <a:ea typeface="Microsoft YaHei"/>
              </a:rPr>
              <a:t>结构指定</a:t>
            </a:r>
            <a:r>
              <a:rPr lang="en-US" sz="165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B31F14"/>
                </a:solidFill>
                <a:latin typeface="Microsoft YaHei"/>
                <a:ea typeface="Microsoft YaHei"/>
              </a:rPr>
              <a:t>求最低价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3324225" y="4943475"/>
            <a:ext cx="1333500" cy="485775"/>
          </a:xfrm>
          <a:prstGeom prst="roundRect">
            <a:avLst>
              <a:gd name="adj" fmla="val 19608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571875" y="505777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31F14"/>
                </a:solidFill>
                <a:latin typeface="Microsoft YaHei"/>
                <a:ea typeface="Microsoft YaHei"/>
              </a:rPr>
              <a:t>想吃优先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829175" y="4943475"/>
            <a:ext cx="1333500" cy="485775"/>
          </a:xfrm>
          <a:prstGeom prst="roundRect">
            <a:avLst>
              <a:gd name="adj" fmla="val 19608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076825" y="505777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31F14"/>
                </a:solidFill>
                <a:latin typeface="Microsoft YaHei"/>
                <a:ea typeface="Microsoft YaHei"/>
              </a:rPr>
              <a:t>美食转盘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62000" y="6048375"/>
            <a:ext cx="3981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WorkBuddy × DSH </a:t>
            </a:r>
            <a:r>
              <a:rPr lang="zh-CN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双智能体协作开发</a:t>
            </a:r>
            <a:r>
              <a:rPr lang="en-US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020175" y="6048375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真实调用麦当劳</a:t>
            </a:r>
            <a:r>
              <a:rPr lang="en-US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MCP · 35 </a:t>
            </a:r>
            <a:r>
              <a:rPr lang="zh-CN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个工具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痛点：点一顿麦当劳，到底难在哪&lt;/Text&gt;&#10;    &lt;Box style={{ width: 56, height: 5, borderRadius: 3, background: '#DA291C', marginTop: 12 }} /&gt;&#10;  &lt;/Box&gt;&#10;&#10;  {/* B 内容区 120-660 */}&#10;  &lt;Box style={{ position: 'absolute', left: 60, top: 130, width: 1160, height: 510, flexDirection: 'row', gap: 44 }}&gt;&#10;    {/* 左：三方冲突图 */}&#10;    &lt;Box style={{ width: 470, height: 510, background: 'rgba(255,199,44,0.14)', borderRadius: 20, position: 'relative' }}&gt;&#10;      {/* 预算（上） */}&#10;      &lt;Box style={{ position: 'absolute', left: 165, top: 28, background: '#DA291C', borderRadius: 12, padding: '10px 28px' }}&gt;&#10;        &lt;Text style={{ fontSize: 21, fontWeight: 'bold', color: '#FFFFFF' }}&gt;预算 ¥100&lt;/Text&gt;&#10;      &lt;/Box&gt;&#10;      &lt;FAIcon name='arrow-down' style={{ position: 'absolute', left: 229, top: 84, fill: '#B31F14', width: 26, height: 26 }} /&gt;&#10;      {/* 口味（左下） */}&#10;      &lt;Box style={{ position: 'absolute', left: 46, bottom: 96, background: '#DA291C', borderRadius: 12, padding: '10px 24px' }}&gt;&#10;        &lt;Text style={{ fontSize: 21, fontWeight: 'bold', color: '#FFFFFF' }}&gt;口味：不吃辣&lt;/Text&gt;&#10;      &lt;/Box&gt;&#10;      &lt;FAIcon name='arrow-right' style={{ position: 'absolute', left: 248, bottom: 100, fill: '#B31F14', width: 26, height: 26 }} /&gt;&#10;      {/* 份量（右下） */}&#10;      &lt;Box style={{ position: 'absolute', right: 46, bottom: 96, background: '#DA291C', borderRadius: 12, padding: '10px 24px' }}&gt;&#10;        &lt;Text style={{ fontSize: 21, fontWeight: 'bold', color: '#FFFFFF' }}&gt;份量：4 人份&lt;/Text&gt;&#10;      &lt;/Box&gt;&#10;      &lt;FAIcon name='arrow-left' style={{ position: 'absolute', right: 248, bottom: 100, fill: '#B31F14', width: 26, height: 26 }} /&gt;&#10;      {/* 中心冲突 */}&#10;      &lt;Box style={{ position: 'absolute', left: 50, top: 175, width: 370, height: 130, background: '#FFFFFF', borderRadius: 18, justifyContent: 'center', alignItems: 'center', boxShadow: '0 6px 18px rgba(218,41,28,0.12)' }}&gt;&#10;        &lt;Text style={{ fontSize: 84, fontWeight: 'bold', color: '#DA291C', lineHeight: 1 }}&gt;？&lt;/Text&gt;&#10;      &lt;/Box&gt;&#10;      &lt;Text style={{ position: 'absolute', left: 0, right: 0, bottom: 26, textAlign: 'center', fontSize: 18, fontWeight: 'bold', color: '#B31F14' }}&gt;三方冲突，人工点餐算到头大&lt;/Text&gt;&#10;    &lt;/Box&gt;&#10;&#10;    {/* 右：三条痛点 */}&#10;    &lt;Box style={{ flex: 1, flexDirection: 'column', gap: 22 }}&gt;&#10;      &lt;Box style={{ flexDirection: 'row', gap: 16, alignItems: 'flex-start' }}&gt;&#10;        &lt;FAIcon name='times-circle' style={{ fill: '#DA291C', width: 30, height: 30, marginTop: 3 }} /&gt;&#10;        &lt;Box style={{ flex: 1 }}&gt;&#10;          &lt;Text style={{ fontSize: 21, fontWeight: 'bold', color: '#1A1A1A' }}&gt;官方 App 只给菜单，不给方案&lt;/Text&gt;&#10;          &lt;Text style={{ fontSize: 17, color: '#6B7280', lineHeight: 1.55, marginTop: 6 }}&gt;想凑一顿合适的，得自己在一百多个商品里翻找、比价、做加法——它是货架，不是参谋。&lt;/Text&gt;&#10;        &lt;/Box&gt;&#10;      &lt;/Box&gt;&#10;      &lt;Box style={{ flexDirection: 'row', gap: 16, alignItems: 'flex-start' }}&gt;&#10;        &lt;FAIcon name='times-circle' style={{ fill: '#DA291C', width: 30, height: 30, marginTop: 3 }} /&gt;&#10;        &lt;Box style={{ flex: 1 }}&gt;&#10;          &lt;Text style={{ fontSize: 21, fontWeight: 'bold', color: '#1A1A1A' }}&gt;多人聚餐，三方条件互相打架&lt;/Text&gt;&#10;          &lt;Text style={{ fontSize: 17, color: '#6B7280', lineHeight: 1.55, marginTop: 6 }}&gt;预算卡着上限，有人不吃辣，份数还得够分——任何一条变一变，整单都要重算一遍。&lt;/Text&gt;&#10;        &lt;/Box&gt;&#10;      &lt;/Box&gt;&#10;      &lt;Box style={{ flexDirection: 'row', gap: 16, alignItems: 'flex-start' }}&gt;&#10;        &lt;FAIcon name='times-circle' style={{ fill: '#DA291C', width: 30, height: 30, marginTop: 3 }} /&gt;&#10;        &lt;Box style={{ flex: 1 }}&gt;&#10;          &lt;Text style={{ fontSize: 21, fontWeight: 'bold', color: '#1A1A1A' }}&gt;标价≠成交价，便宜是「起售」&lt;/Text&gt;&#10;          &lt;Text style={{ fontSize: 17, color: '#6B7280', lineHeight: 1.55, marginTop: 6 }}&gt;套餐标 ¥28 只是最低价起售，实际怎么配、多少钱，不到下单那一刻根本不知道。&lt;/Text&gt;&#10;        &lt;/Box&gt;&#10;      &lt;/Box&gt;&#10;      {/* 底部结论条 */}&#10;      &lt;Box style={{ marginTop: 4, background: '#FFC72C', borderRadius: 12, padding: '14px 22px' }}&gt;&#10;        &lt;Text style={{ fontSize: 19, fontWeight: 'bold', color: '#B31F14' }}&gt;结论：缺的不是菜单，是一个会算账、能给方案的点餐决策者。&lt;/Text&gt;&#10;      &lt;/Box&gt;&#10;    &lt;/Box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02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痛点：点一顿麦当劳，到底难在哪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pic>
        <p:nvPicPr>
          <p:cNvPr id="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67350" y="1266825"/>
            <a:ext cx="285750" cy="285750"/>
          </a:xfrm>
          <a:prstGeom prst="rect">
            <a:avLst/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905500" y="12382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官方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 App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只给菜单，不给方案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905500" y="1543050"/>
            <a:ext cx="5715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6B7280"/>
                </a:solidFill>
                <a:latin typeface="Microsoft YaHei"/>
                <a:ea typeface="Microsoft YaHei"/>
              </a:rPr>
              <a:t>想凑一顿合适的，得自己在一百多个商品里翻找、比价、做加法——它是货架，不是参谋。</a:t>
            </a:r>
            <a:endParaRPr/>
          </a:p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67350" y="2390775"/>
            <a:ext cx="285750" cy="28575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905500" y="236220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多人聚餐，三方条件互相打架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905500" y="2667000"/>
            <a:ext cx="5715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6B7280"/>
                </a:solidFill>
                <a:latin typeface="Microsoft YaHei"/>
                <a:ea typeface="Microsoft YaHei"/>
              </a:rPr>
              <a:t>预算卡着上限，有人不吃辣，份数还得够分——任何一条变一变，整单都要重算一遍。</a:t>
            </a:r>
            <a:endParaRPr/>
          </a:p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67350" y="3514725"/>
            <a:ext cx="285750" cy="28575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905500" y="34861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标价≠成交价，便宜是「起售」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905500" y="3790950"/>
            <a:ext cx="5715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6B7280"/>
                </a:solidFill>
                <a:latin typeface="Microsoft YaHei"/>
                <a:ea typeface="Microsoft YaHei"/>
              </a:rPr>
              <a:t>套餐标</a:t>
            </a:r>
            <a:r>
              <a:rPr lang="en-US" sz="1275">
                <a:solidFill>
                  <a:srgbClr val="6B7280"/>
                </a:solidFill>
                <a:latin typeface="Microsoft YaHei"/>
                <a:ea typeface="Microsoft YaHei"/>
              </a:rPr>
              <a:t xml:space="preserve"> ¥28 </a:t>
            </a:r>
            <a:r>
              <a:rPr lang="zh-CN" sz="1275">
                <a:solidFill>
                  <a:srgbClr val="6B7280"/>
                </a:solidFill>
                <a:latin typeface="Microsoft YaHei"/>
                <a:ea typeface="Microsoft YaHei"/>
              </a:rPr>
              <a:t>只是最低价起售，实际怎么配、多少钱，不到下单那一刻根本不知道。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467350" y="4648200"/>
            <a:ext cx="6153150" cy="485775"/>
          </a:xfrm>
          <a:prstGeom prst="roundRect">
            <a:avLst>
              <a:gd name="adj" fmla="val 23529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676900" y="4781550"/>
            <a:ext cx="5734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31F14"/>
                </a:solidFill>
                <a:latin typeface="Microsoft YaHei"/>
                <a:ea typeface="Microsoft YaHei"/>
              </a:rPr>
              <a:t>结论：缺的不是菜单，是一个会算账、能给方案的点餐决策者。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71500" y="1238250"/>
            <a:ext cx="4476750" cy="4857750"/>
          </a:xfrm>
          <a:prstGeom prst="roundRect">
            <a:avLst>
              <a:gd name="adj" fmla="val 4255"/>
            </a:avLst>
          </a:prstGeom>
          <a:solidFill>
            <a:srgbClr val="FFC72C">
              <a:alpha val="14000"/>
            </a:srgbClr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2143125" y="1504950"/>
            <a:ext cx="1495425" cy="438150"/>
          </a:xfrm>
          <a:prstGeom prst="roundRect">
            <a:avLst>
              <a:gd name="adj" fmla="val 26087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2409825" y="1600200"/>
            <a:ext cx="9620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预算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¥100</a:t>
            </a:r>
            <a:endParaRPr/>
          </a:p>
        </p:txBody>
      </p:sp>
      <p:pic>
        <p:nvPicPr>
          <p:cNvPr id="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752725" y="2038350"/>
            <a:ext cx="247650" cy="247650"/>
          </a:xfrm>
          <a:prstGeom prst="rect">
            <a:avLst/>
          </a:prstGeom>
          <a:ln/>
        </p:spPr>
      </p:pic>
      <p:sp>
        <p:nvSpPr>
          <p:cNvPr id="87" name=""/>
          <p:cNvSpPr/>
          <p:nvPr/>
        </p:nvSpPr>
        <p:spPr>
          <a:xfrm rot="0" flipH="0" flipV="0">
            <a:off x="1009650" y="4743450"/>
            <a:ext cx="1657350" cy="438150"/>
          </a:xfrm>
          <a:prstGeom prst="roundRect">
            <a:avLst>
              <a:gd name="adj" fmla="val 26087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238250" y="483870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口味：不吃辣</a:t>
            </a:r>
            <a:endParaRPr/>
          </a:p>
        </p:txBody>
      </p:sp>
      <p:pic>
        <p:nvPicPr>
          <p:cNvPr id="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2933700" y="4895850"/>
            <a:ext cx="247650" cy="247650"/>
          </a:xfrm>
          <a:prstGeom prst="rect">
            <a:avLst/>
          </a:prstGeom>
          <a:ln/>
        </p:spPr>
      </p:pic>
      <p:sp>
        <p:nvSpPr>
          <p:cNvPr id="90" name=""/>
          <p:cNvSpPr/>
          <p:nvPr/>
        </p:nvSpPr>
        <p:spPr>
          <a:xfrm rot="0" flipH="0" flipV="0">
            <a:off x="2962275" y="4743450"/>
            <a:ext cx="1647825" cy="438150"/>
          </a:xfrm>
          <a:prstGeom prst="roundRect">
            <a:avLst>
              <a:gd name="adj" fmla="val 26087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190875" y="4838700"/>
            <a:ext cx="1190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份量：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人份</a:t>
            </a:r>
            <a:endParaRPr/>
          </a:p>
        </p:txBody>
      </p:sp>
      <p:pic>
        <p:nvPicPr>
          <p:cNvPr id="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2438400" y="4895850"/>
            <a:ext cx="247650" cy="247650"/>
          </a:xfrm>
          <a:prstGeom prst="rect">
            <a:avLst/>
          </a:prstGeom>
          <a:ln/>
        </p:spPr>
      </p:pic>
      <p:sp>
        <p:nvSpPr>
          <p:cNvPr id="93" name=""/>
          <p:cNvSpPr/>
          <p:nvPr/>
        </p:nvSpPr>
        <p:spPr>
          <a:xfrm rot="0" flipH="0" flipV="0">
            <a:off x="1047750" y="2905125"/>
            <a:ext cx="352425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/>
          <a:effectLst>
            <a:outerShdw blurRad="171450" dist="57150" dir="5400000">
              <a:srgbClr val="DA291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2409825" y="3048000"/>
            <a:ext cx="8001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00" b="1">
                <a:solidFill>
                  <a:srgbClr val="DA291C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71500" y="5638800"/>
            <a:ext cx="22288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B31F14"/>
                </a:solidFill>
                <a:latin typeface="Microsoft YaHei"/>
                <a:ea typeface="Microsoft YaHei"/>
              </a:rPr>
              <a:t>三方冲突，人工点餐算到头大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8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解决方案：给预算和结构，出可解释的最低价&lt;/Text&gt;&#10;    &lt;Box style={{ width: 56, height: 5, borderRadius: 3, background: '#DA291C', marginTop: 12 }} /&gt;&#10;  &lt;/Box&gt;&#10;&#10;  {/* B 内容区 */}&#10;  &lt;Box style={{ position: 'absolute', left: 60, top: 130, width: 1160, height: 510, flexDirection: 'row', gap: 28, alignItems: 'center' }}&gt;&#10;    {/* 左：输入卡 */}&#10;    &lt;Box style={{ width: 400, height: 510, background: 'rgba(218,41,28,0.06)', borderRadius: 20, padding: '24px 28px' }}&gt;&#10;      &lt;Text style={{ fontSize: 20, fontWeight: 'bold', color: '#B31F14' }}&gt;你只需要给两三样东西&lt;/Text&gt;&#10;      &lt;Box style={{ marginTop: 14, background: '#FFFFFF', borderRadius: 12, padding: '12px 18px' }}&gt;&#10;        &lt;Text style={{ fontSize: 14, color: '#9CA3AF' }}&gt;① 一个总预算&lt;/Text&gt;&#10;        &lt;Text style={{ fontSize: 40, fontWeight: 'bold', color: '#1A1A1A', marginTop: 0 }}&gt;¥100&lt;/Text&gt;&#10;      &lt;/Box&gt;&#10;      &lt;Box style={{ marginTop: 12, background: '#FFC72C', borderRadius: 12, padding: '12px 18px' }}&gt;&#10;        &lt;Text style={{ fontSize: 14, color: '#8A6100' }}&gt;② 一个结构（各要几份，0 = 不要）&lt;/Text&gt;&#10;        &lt;Text style={{ fontSize: 20, fontWeight: 'bold', color: '#B31F14', marginTop: 6 }}&gt;主食 ×1 · 小吃 ×1 · 甜品 ×1 · 饮品 ×1&lt;/Text&gt;&#10;      &lt;/Box&gt;&#10;      &lt;Box style={{ marginTop: 12, background: 'rgba(218,41,28,0.08)', borderRadius: 12, padding: '12px 18px' }}&gt;&#10;        &lt;Text style={{ fontSize: 14, color: '#9CA3AF' }}&gt;③ 门店范围（自动匹配最近门店）&lt;/Text&gt;&#10;        &lt;Text style={{ fontSize: 20, fontWeight: 'bold', color: '#B31F14', marginTop: 6 }}&gt;绍兴 · 上虞&lt;/Text&gt;&#10;      &lt;/Box&gt;&#10;      &lt;Box style={{ marginTop: 12, background: '#FFFFFF', borderRadius: 12, padding: '12px 18px' }}&gt;&#10;        &lt;Text style={{ fontSize: 14, color: '#9CA3AF' }}&gt;更多条件（可选，条件越具体方案越贴合）&lt;/Text&gt;&#10;        &lt;Text style={{ fontSize: 16, fontWeight: 'bold', color: '#DA291C', marginTop: 6 }}&gt;想吃鸡翅 / 不吃辣 / 4 人分 / 到店自取&lt;/Text&gt;&#10;      &lt;/Box&gt;&#10;    &lt;/Box&gt;&#10;&#10;    {/* 中：箭头 */}&#10;    &lt;FAIcon name='arrow-right' style={{ fill: '#DA291C', width: 44, height: 44 }} /&gt;&#10;&#10;    {/* 右：账单卡 */}&#10;    &lt;Box style={{ flex: 1, height: 490, background: '#FFFFFF', borderRadius: 20, border: '2px solid rgba(218,41,28,0.18)', boxShadow: '0 10px 28px rgba(16,24,40,0.10)', padding: '26px 30px' }}&gt;&#10;      &lt;Box style={{ flexDirection: 'row', justifyContent: 'space-between', alignItems: 'center' }}&gt;&#10;        &lt;Text style={{ fontSize: 20, fontWeight: 'bold', color: '#1A1A1A' }}&gt;它给你的：一套可解释的最低价方案&lt;/Text&gt;&#10;        &lt;Box style={{ background: 'rgba(15,157,88,0.12)', borderRadius: 999, padding: '5px 14px' }}&gt;&lt;Text style={{ fontSize: 13, fontWeight: 'bold', color: '#0F9D58' }}&gt;✓ 预算内&lt;/Text&gt;&lt;/Box&gt;&#10;      &lt;/Box&gt;&#10;      &lt;Box style={{ marginTop: 16, gap: 11 }}&gt;&#10;        &lt;Text style={{ fontSize: 19, color: '#1A1A1A' }}&gt;🍔 牛肉堡单品精选 ×1　　　　　　¥13.50&lt;/Text&gt;&#10;        &lt;Text style={{ fontSize: 19, color: '#1A1A1A' }}&gt;🍟 苹果片 ×1　　　　　　　　　 ¥7.00&lt;/Text&gt;&#10;        &lt;Text style={{ fontSize: 19, color: '#1A1A1A' }}&gt;🍦 灰焰圆筒 ×1　　　　　　　　 ¥5.00&lt;/Text&gt;&#10;        &lt;Text style={{ fontSize: 19, color: '#1A1A1A' }}&gt;🥤 雪碧 ×1　　　　　　　　　　 ¥9.50&lt;/Text&gt;&#10;        &lt;Text style={{ fontSize: 15, color: '#9CA3AF' }}&gt;费用拆分：商品 ¥35.00 · 门店「麦当劳绍兴上虞上百万悦城餐厅」&lt;/Text&gt;&#10;      &lt;/Box&gt;&#10;      &lt;Box style={{ borderTop: '2px dashed #E5E7EB', marginTop: 14, paddingTop: 12, flexDirection: 'row', justifyContent: 'space-between', alignItems: 'flex-end' }}&gt;&#10;        &lt;Box&gt;&#10;          &lt;Text style={{ fontSize: 15, color: '#9CA3AF' }}&gt;该结构最低价 · 实付&lt;/Text&gt;&#10;          &lt;Text style={{ fontSize: 15, color: '#9CA3AF', marginTop: 4 }}&gt;预算 ¥100 · 预算内还余 ¥65.00&lt;/Text&gt;&#10;        &lt;/Box&gt;&#10;        &lt;Text style={{ fontSize: 56, fontWeight: 'bold', color: '#DA291C', lineHeight: 1 }}&gt;¥35.00&lt;/Text&gt;&#10;      &lt;/Box&gt;&#10;      &lt;Box style={{ marginTop: 14, background: 'rgba(255,199,44,0.16)', borderRadius: 10, padding: '10px 16px' }}&gt;&#10;        &lt;Text style={{ fontSize: 16, color: '#B31F14', lineHeight: 1.55 }}&gt;&lt;span style={{ fontWeight: 'bold' }}&gt;为什么是它：&lt;/span&gt;每个候选商品都经过真实算价再比价，这是该结构下的最低价组合——不只给答案，还给得出答案的理由。&lt;/Text&gt;&#10;      &lt;/Box&gt;&#10;    &lt;/Box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03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6477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解决方案：给预算和结构，出可解释的最低价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571500" y="1238250"/>
            <a:ext cx="3810000" cy="4857750"/>
          </a:xfrm>
          <a:prstGeom prst="roundRect">
            <a:avLst>
              <a:gd name="adj" fmla="val 5000"/>
            </a:avLst>
          </a:prstGeom>
          <a:solidFill>
            <a:srgbClr val="DA291C">
              <a:alpha val="6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38200" y="1466850"/>
            <a:ext cx="3276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你只需要给两三样东西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838200" y="1828800"/>
            <a:ext cx="3276600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09650" y="19431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一个总预算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09650" y="2105025"/>
            <a:ext cx="2933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A1A1A"/>
                </a:solidFill>
                <a:latin typeface="Microsoft YaHei"/>
                <a:ea typeface="Microsoft YaHei"/>
              </a:rPr>
              <a:t>¥100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38200" y="2790825"/>
            <a:ext cx="3276600" cy="904875"/>
          </a:xfrm>
          <a:prstGeom prst="roundRect">
            <a:avLst>
              <a:gd name="adj" fmla="val 12632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009650" y="290512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610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8A6100"/>
                </a:solidFill>
                <a:latin typeface="Microsoft YaHei"/>
                <a:ea typeface="Microsoft YaHei"/>
              </a:rPr>
              <a:t>一个结构（各要几份，</a:t>
            </a:r>
            <a:r>
              <a:rPr lang="en-US" sz="1050">
                <a:solidFill>
                  <a:srgbClr val="8A6100"/>
                </a:solidFill>
                <a:latin typeface="Microsoft YaHei"/>
                <a:ea typeface="Microsoft YaHei"/>
              </a:rPr>
              <a:t xml:space="preserve">0 = </a:t>
            </a:r>
            <a:r>
              <a:rPr lang="zh-CN" sz="1050">
                <a:solidFill>
                  <a:srgbClr val="8A6100"/>
                </a:solidFill>
                <a:latin typeface="Microsoft YaHei"/>
                <a:ea typeface="Microsoft YaHei"/>
              </a:rPr>
              <a:t>不要）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09650" y="3124200"/>
            <a:ext cx="2933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主食</a:t>
            </a:r>
            <a:r>
              <a:rPr lang="en-US" sz="150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×1 · </a:t>
            </a: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小吃</a:t>
            </a:r>
            <a:r>
              <a:rPr lang="en-US" sz="150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×1 · </a:t>
            </a: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甜品</a:t>
            </a:r>
            <a:r>
              <a:rPr lang="en-US" sz="150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×1 · </a:t>
            </a: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饮品</a:t>
            </a:r>
            <a:r>
              <a:rPr lang="en-US" sz="150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×1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838200" y="3810000"/>
            <a:ext cx="3276600" cy="676275"/>
          </a:xfrm>
          <a:prstGeom prst="roundRect">
            <a:avLst>
              <a:gd name="adj" fmla="val 16901"/>
            </a:avLst>
          </a:prstGeom>
          <a:solidFill>
            <a:srgbClr val="DA291C">
              <a:alpha val="8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009650" y="39243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门店范围（自动匹配最近门店）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009650" y="4143375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绍兴</a:t>
            </a:r>
            <a:r>
              <a:rPr lang="en-US" sz="150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上虞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838200" y="4600575"/>
            <a:ext cx="3276600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09650" y="471487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更多条件（可选，条件越具体方案越贴合）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09650" y="49339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A291C"/>
                </a:solidFill>
                <a:latin typeface="Microsoft YaHei"/>
                <a:ea typeface="Microsoft YaHei"/>
              </a:rPr>
              <a:t>想吃鸡翅</a:t>
            </a:r>
            <a:r>
              <a:rPr lang="en-US" sz="1200" b="1">
                <a:solidFill>
                  <a:srgbClr val="DA291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DA291C"/>
                </a:solidFill>
                <a:latin typeface="Microsoft YaHei"/>
                <a:ea typeface="Microsoft YaHei"/>
              </a:rPr>
              <a:t>不吃辣</a:t>
            </a:r>
            <a:r>
              <a:rPr lang="en-US" sz="1200" b="1">
                <a:solidFill>
                  <a:srgbClr val="DA291C"/>
                </a:solidFill>
                <a:latin typeface="Microsoft YaHei"/>
                <a:ea typeface="Microsoft YaHei"/>
              </a:rPr>
              <a:t xml:space="preserve"> / 4 </a:t>
            </a:r>
            <a:r>
              <a:rPr lang="zh-CN" sz="1200" b="1">
                <a:solidFill>
                  <a:srgbClr val="DA291C"/>
                </a:solidFill>
                <a:latin typeface="Microsoft YaHei"/>
                <a:ea typeface="Microsoft YaHei"/>
              </a:rPr>
              <a:t>人分</a:t>
            </a:r>
            <a:r>
              <a:rPr lang="en-US" sz="1200" b="1">
                <a:solidFill>
                  <a:srgbClr val="DA291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DA291C"/>
                </a:solidFill>
                <a:latin typeface="Microsoft YaHei"/>
                <a:ea typeface="Microsoft YaHei"/>
              </a:rPr>
              <a:t>到店自取</a:t>
            </a:r>
            <a:endParaRPr/>
          </a:p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648200" y="3457575"/>
            <a:ext cx="419100" cy="419100"/>
          </a:xfrm>
          <a:prstGeom prst="rect">
            <a:avLst/>
          </a:prstGeom>
          <a:ln/>
        </p:spPr>
      </p:pic>
      <p:sp>
        <p:nvSpPr>
          <p:cNvPr id="117" name=""/>
          <p:cNvSpPr/>
          <p:nvPr/>
        </p:nvSpPr>
        <p:spPr>
          <a:xfrm rot="0" flipH="0" flipV="0">
            <a:off x="5334000" y="1333500"/>
            <a:ext cx="6286500" cy="4667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5400">
            <a:solidFill>
              <a:srgbClr val="DA291C">
                <a:alpha val="18000"/>
              </a:srgbClr>
            </a:solidFill>
            <a:prstDash val="solid"/>
          </a:ln>
          <a:effectLst>
            <a:outerShdw blurRad="266700" dist="95250" dir="5400000">
              <a:srgbClr val="101828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619750" y="1590675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它给你的：一套可解释的最低价方案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0534650" y="1581150"/>
            <a:ext cx="800100" cy="247650"/>
          </a:xfrm>
          <a:prstGeom prst="roundRect">
            <a:avLst>
              <a:gd name="adj" fmla="val 3842308"/>
            </a:avLst>
          </a:prstGeom>
          <a:solidFill>
            <a:srgbClr val="0F9D58">
              <a:alpha val="12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668000" y="1628775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9D58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975" b="1">
                <a:solidFill>
                  <a:srgbClr val="0F9D58"/>
                </a:solidFill>
                <a:latin typeface="Microsoft YaHei"/>
                <a:ea typeface="Microsoft YaHei"/>
              </a:rPr>
              <a:t>预算内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619750" y="1981200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🍔 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牛肉堡单品精选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×1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　　　　　　¥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>13.50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619750" y="2305050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🍟 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苹果片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×1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　　　　　　　　　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¥7.00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619750" y="2628900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🍦 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灰焰圆筒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×1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　　　　　　　　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¥5.00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619750" y="2952750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🥤 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雪碧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×1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　　　　　　　　　　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¥9.50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619750" y="3276600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费用拆分：商品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¥35.00 ·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门店「麦当劳绍兴上虞上百万悦城餐厅」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619750" y="3581400"/>
            <a:ext cx="5715000" cy="800100"/>
          </a:xfrm>
          <a:custGeom>
            <a:pathLst>
              <a:path w="600" h="84">
                <a:moveTo>
                  <a:pt x="0" y="0"/>
                </a:moveTo>
                <a:lnTo>
                  <a:pt x="600" y="0"/>
                </a:lnTo>
                <a:lnTo>
                  <a:pt x="600" y="2"/>
                </a:lnTo>
                <a:lnTo>
                  <a:pt x="0" y="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619750" y="39814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该结构最低价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实付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619750" y="41910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预算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¥100 ·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预算内还余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 xml:space="preserve"> ¥65.00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534525" y="3714750"/>
            <a:ext cx="18002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DA291C"/>
                </a:solidFill>
                <a:latin typeface="Microsoft YaHei"/>
                <a:ea typeface="Microsoft YaHei"/>
              </a:rPr>
              <a:t>¥35.00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619750" y="4495800"/>
            <a:ext cx="5715000" cy="762000"/>
          </a:xfrm>
          <a:prstGeom prst="roundRect">
            <a:avLst>
              <a:gd name="adj" fmla="val 12500"/>
            </a:avLst>
          </a:prstGeom>
          <a:solidFill>
            <a:srgbClr val="FFC72C">
              <a:alpha val="16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772150" y="4591050"/>
            <a:ext cx="5410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B31F14"/>
                </a:solidFill>
                <a:latin typeface="Microsoft YaHei"/>
                <a:ea typeface="Microsoft YaHei"/>
              </a:rPr>
              <a:t>为什么是它：</a:t>
            </a:r>
            <a:r>
              <a:rPr lang="zh-CN" sz="1200">
                <a:solidFill>
                  <a:srgbClr val="B31F14"/>
                </a:solidFill>
                <a:latin typeface="Microsoft YaHei"/>
                <a:ea typeface="Microsoft YaHei"/>
              </a:rPr>
              <a:t>每个候选商品都经过真实算价再比价，这是该结构下的最低价组合——不只给答案，还给得出答案的理由。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4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核心创新：三条差异化路线&lt;/Text&gt;&#10;    &lt;Box style={{ width: 56, height: 5, borderRadius: 3, background: '#DA291C', marginTop: 12 }} /&gt;&#10;  &lt;/Box&gt;&#10;&#10;  {/* B 内容区：三卡 */}&#10;  &lt;Box style={{ position: 'absolute', left: 60, top: 138, width: 1160, height: 430, flexDirection: 'row', gap: 24 }}&gt;&#10;    {/* 卡 1 */}&#10;    &lt;Box style={{ flex: 1, background: 'rgba(218,41,28,0.05)', borderRadius: 18, overflow: 'hidden' }}&gt;&#10;      &lt;Box style={{ background: '#DA291C', padding: '14px 24px', flexDirection: 'row', alignItems: 'center', gap: 14 }}&gt;&#10;        &lt;Text style={{ fontSize: 44, fontWeight: 'bold', color: '#FFC72C', lineHeight: 1 }}&gt;01&lt;/Text&gt;&#10;        &lt;Text style={{ fontSize: 21, fontWeight: 'bold', color: '#FFFFFF' }}&gt;结构指定 · 求最低价&lt;/Text&gt;&#10;      &lt;/Box&gt;&#10;      &lt;Box style={{ padding: '20px 24px', flex: 1 }}&gt;&#10;        &lt;Text style={{ fontSize: 16, color: '#1A1A1A', lineHeight: 1.7 }}&gt;主食、小吃、甜品、饮品各要几份，由你说了算。它不是&quot;推荐几个套餐&quot;，而是在真实菜单里&lt;strong&gt;求解这个结构的最便宜组合&lt;/strong&gt;——推荐靠感觉，求解靠算价。&lt;/Text&gt;&#10;        &lt;Text style={{ fontSize: 16, color: '#1A1A1A', lineHeight: 1.7, marginTop: 12 }}&gt;配不齐时如实告知最低所需（实测 ¥20 配不齐 → 直说最低要 ¥41.00），绝不硬凑。&lt;/Text&gt;&#10;      &lt;/Box&gt;&#10;      &lt;Box style={{ background: 'rgba(255,199,44,0.35)', padding: '10px 24px' }}&gt;&#10;        &lt;Text style={{ fontSize: 15, fontWeight: 'bold', color: '#B31F14' }}&gt;关键词：可解释 · 不糊弄&lt;/Text&gt;&#10;      &lt;/Box&gt;&#10;    &lt;/Box&gt;&#10;    {/* 卡 2 */}&#10;    &lt;Box style={{ flex: 1, background: 'rgba(255,199,44,0.10)', borderRadius: 18, overflow: 'hidden' }}&gt;&#10;      &lt;Box style={{ background: '#FFC72C', padding: '14px 24px', flexDirection: 'row', alignItems: 'center', gap: 14 }}&gt;&#10;        &lt;Text style={{ fontSize: 44, fontWeight: 'bold', color: '#B31F14', lineHeight: 1 }}&gt;02&lt;/Text&gt;&#10;        &lt;Text style={{ fontSize: 21, fontWeight: 'bold', color: '#B31F14' }}&gt;想吃优先（软偏好）&lt;/Text&gt;&#10;      &lt;/Box&gt;&#10;      &lt;Box style={{ padding: '20px 24px', flex: 1 }}&gt;&#10;        &lt;Text style={{ fontSize: 16, color: '#1A1A1A', lineHeight: 1.7 }}&gt;说&quot;想吃鸡翅&quot;，含鸡翅的方案优先出现，并在备注里写清为满足偏好多花了 ¥7.50——&lt;strong&gt;偏好被满足，代价也透明&lt;/strong&gt;。&lt;/Text&gt;&#10;        &lt;Text style={{ fontSize: 16, color: '#1A1A1A', lineHeight: 1.7, marginTop: 12 }}&gt;本店没有或被忌口排除时直接说明（区分&quot;菜单没有&quot;和&quot;被你排除&quot;两种情况），矛盾时硬约束优先。&lt;/Text&gt;&#10;      &lt;/Box&gt;&#10;      &lt;Box style={{ background: 'rgba(218,41,28,0.08)', padding: '10px 24px' }}&gt;&#10;        &lt;Text style={{ fontSize: 15, fontWeight: 'bold', color: '#B31F14' }}&gt;关键词：软硬约束分离&lt;/Text&gt;&#10;      &lt;/Box&gt;&#10;    &lt;/Box&gt;&#10;    {/* 卡 3 */}&#10;    &lt;Box style={{ flex: 1, background: 'rgba(218,41,28,0.05)', borderRadius: 18, overflow: 'hidden' }}&gt;&#10;      &lt;Box style={{ background: '#DA291C', padding: '14px 24px', flexDirection: 'row', alignItems: 'center', gap: 14 }}&gt;&#10;        &lt;Text style={{ fontSize: 44, fontWeight: 'bold', color: '#FFC72C', lineHeight: 1 }}&gt;03&lt;/Text&gt;&#10;        &lt;Text style={{ fontSize: 21, fontWeight: 'bold', color: '#FFFFFF' }}&gt;美食转盘 · 随机抽&lt;/Text&gt;&#10;      &lt;/Box&gt;&#10;      &lt;Box style={{ padding: '20px 24px', flex: 1 }}&gt;&#10;        &lt;Text style={{ fontSize: 16, color: '#1A1A1A', lineHeight: 1.7 }}&gt;选择困难症的解法：四个盘各转一格，主食/小吃/甜品/饮品交给运气，&lt;strong&gt;抽中什么吃什么&lt;/strong&gt;。&lt;/Text&gt;&#10;        &lt;Text style={{ fontSize: 16, color: '#1A1A1A', lineHeight: 1.7, marginTop: 12 }}&gt;随机不等于乱来：候选全部来自实时菜单、按预算分配，结算时用 MCP 真实算价（实测 4 件实付 ¥53.40）。可锁定满意的盘、单独重转其余。&lt;/Text&gt;&#10;      &lt;/Box&gt;&#10;      &lt;Box style={{ background: 'rgba(255,199,44,0.35)', padding: '10px 24px' }}&gt;&#10;        &lt;Text style={{ fontSize: 15, fontWeight: 'bold', color: '#B31F14' }}&gt;关键词：好玩且有据&lt;/Text&gt;&#10;      &lt;/Box&gt;&#10;    &lt;/Box&gt;&#10;  &lt;/Box&gt;&#10;&#10;  {/* 底部注脚条 */}&#10;  &lt;Box style={{ position: 'absolute', left: 60, top: 588, width: 1160, background: 'rgba(218,41,28,0.06)', borderRadius: 12, padding: '12px 22px' }}&gt;&#10;    &lt;Text style={{ fontSize: 16, color: '#B31F14' }}&gt;同一套真实算价内核，三种用法：求解（按结构）、权衡（想吃优先）、游戏（转盘）——对应评分里的「创新性」。&lt;/Text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04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核心创新：三条差异化路线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571500" y="1314450"/>
            <a:ext cx="3533775" cy="4095750"/>
          </a:xfrm>
          <a:prstGeom prst="roundRect">
            <a:avLst>
              <a:gd name="adj" fmla="val 4852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571500" y="1314450"/>
            <a:ext cx="3533775" cy="771525"/>
          </a:xfrm>
          <a:custGeom>
            <a:pathLst>
              <a:path w="371" h="81">
                <a:moveTo>
                  <a:pt x="353" y="0"/>
                </a:moveTo>
                <a:cubicBezTo>
                  <a:pt x="363" y="0"/>
                  <a:pt x="371" y="8"/>
                  <a:pt x="371" y="18"/>
                </a:cubicBezTo>
                <a:lnTo>
                  <a:pt x="371" y="81"/>
                </a:lnTo>
                <a:lnTo>
                  <a:pt x="0" y="81"/>
                </a:ln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353" y="0"/>
                </a:lnTo>
                <a:close/>
              </a:path>
            </a:pathLst>
          </a:custGeom>
          <a:solidFill>
            <a:srgbClr val="DA291C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00100" y="144780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C72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457325" y="1581150"/>
            <a:ext cx="1809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结构指定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求最低价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00100" y="2276475"/>
            <a:ext cx="30765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主食、小吃、甜品、饮品各要几份，由你说了算。它不是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推荐几个套餐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，而是在真实菜单里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求解这个结构的最便宜组合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——推荐靠感觉，求解靠算价。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00100" y="3638550"/>
            <a:ext cx="30765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配不齐时如实告知最低所需（实测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¥20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配不齐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直说最低要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¥41.00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），绝不硬凑。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1500" y="5048250"/>
            <a:ext cx="3533775" cy="361950"/>
          </a:xfrm>
          <a:custGeom>
            <a:pathLst>
              <a:path w="371" h="38">
                <a:moveTo>
                  <a:pt x="371" y="20"/>
                </a:moveTo>
                <a:cubicBezTo>
                  <a:pt x="371" y="30"/>
                  <a:pt x="363" y="38"/>
                  <a:pt x="353" y="38"/>
                </a:cubicBezTo>
                <a:lnTo>
                  <a:pt x="18" y="38"/>
                </a:lnTo>
                <a:cubicBezTo>
                  <a:pt x="8" y="38"/>
                  <a:pt x="0" y="30"/>
                  <a:pt x="0" y="20"/>
                </a:cubicBezTo>
                <a:lnTo>
                  <a:pt x="0" y="0"/>
                </a:lnTo>
                <a:lnTo>
                  <a:pt x="371" y="0"/>
                </a:lnTo>
                <a:close/>
              </a:path>
            </a:pathLst>
          </a:custGeom>
          <a:solidFill>
            <a:srgbClr val="FFC72C">
              <a:alpha val="35000"/>
            </a:srgbClr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00100" y="514350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关键词：可解释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不糊弄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333875" y="1314450"/>
            <a:ext cx="3524250" cy="4095750"/>
          </a:xfrm>
          <a:prstGeom prst="roundRect">
            <a:avLst>
              <a:gd name="adj" fmla="val 4865"/>
            </a:avLst>
          </a:prstGeom>
          <a:solidFill>
            <a:srgbClr val="FFC72C">
              <a:alpha val="10000"/>
            </a:srgbClr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4333875" y="1314450"/>
            <a:ext cx="3524250" cy="771525"/>
          </a:xfrm>
          <a:custGeom>
            <a:pathLst>
              <a:path w="370" h="81">
                <a:moveTo>
                  <a:pt x="352" y="0"/>
                </a:moveTo>
                <a:cubicBezTo>
                  <a:pt x="362" y="0"/>
                  <a:pt x="370" y="8"/>
                  <a:pt x="370" y="18"/>
                </a:cubicBezTo>
                <a:lnTo>
                  <a:pt x="370" y="81"/>
                </a:lnTo>
                <a:lnTo>
                  <a:pt x="0" y="81"/>
                </a:ln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352" y="0"/>
                </a:lnTo>
                <a:close/>
              </a:path>
            </a:pathLst>
          </a:custGeom>
          <a:solidFill>
            <a:srgbClr val="FFC72C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562475" y="144780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B31F1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219700" y="1581150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B31F14"/>
                </a:solidFill>
                <a:latin typeface="Microsoft YaHei"/>
                <a:ea typeface="Microsoft YaHei"/>
              </a:rPr>
              <a:t>想吃优先（软偏好）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562475" y="2276475"/>
            <a:ext cx="30670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说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想吃鸡翅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，含鸡翅的方案优先出现，并在备注里写清为满足偏好多花了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¥7.50——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偏好被满足，代价也透明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562475" y="3324225"/>
            <a:ext cx="30670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本店没有或被忌口排除时直接说明（区分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菜单没有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被你排除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两种情况），矛盾时硬约束优先。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333875" y="5048250"/>
            <a:ext cx="3524250" cy="361950"/>
          </a:xfrm>
          <a:custGeom>
            <a:pathLst>
              <a:path w="370" h="38">
                <a:moveTo>
                  <a:pt x="370" y="20"/>
                </a:moveTo>
                <a:cubicBezTo>
                  <a:pt x="370" y="30"/>
                  <a:pt x="362" y="38"/>
                  <a:pt x="352" y="38"/>
                </a:cubicBezTo>
                <a:lnTo>
                  <a:pt x="18" y="38"/>
                </a:lnTo>
                <a:cubicBezTo>
                  <a:pt x="8" y="38"/>
                  <a:pt x="0" y="30"/>
                  <a:pt x="0" y="20"/>
                </a:cubicBezTo>
                <a:lnTo>
                  <a:pt x="0" y="0"/>
                </a:lnTo>
                <a:lnTo>
                  <a:pt x="370" y="0"/>
                </a:lnTo>
                <a:close/>
              </a:path>
            </a:pathLst>
          </a:custGeom>
          <a:solidFill>
            <a:srgbClr val="DA291C">
              <a:alpha val="8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562475" y="5143500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关键词：软硬约束分离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8086725" y="1314450"/>
            <a:ext cx="3533775" cy="4095750"/>
          </a:xfrm>
          <a:prstGeom prst="roundRect">
            <a:avLst>
              <a:gd name="adj" fmla="val 4852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8086725" y="1314450"/>
            <a:ext cx="3533775" cy="771525"/>
          </a:xfrm>
          <a:custGeom>
            <a:pathLst>
              <a:path w="371" h="81">
                <a:moveTo>
                  <a:pt x="353" y="0"/>
                </a:moveTo>
                <a:cubicBezTo>
                  <a:pt x="363" y="0"/>
                  <a:pt x="371" y="8"/>
                  <a:pt x="371" y="18"/>
                </a:cubicBezTo>
                <a:lnTo>
                  <a:pt x="371" y="81"/>
                </a:lnTo>
                <a:lnTo>
                  <a:pt x="0" y="81"/>
                </a:ln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353" y="0"/>
                </a:lnTo>
                <a:close/>
              </a:path>
            </a:pathLst>
          </a:custGeom>
          <a:solidFill>
            <a:srgbClr val="DA291C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15325" y="144780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C72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972550" y="1581150"/>
            <a:ext cx="1609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美食转盘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随机抽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315325" y="2276475"/>
            <a:ext cx="3076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选择困难症的解法：四个盘各转一格，主食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小吃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甜品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饮品交给运气，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抽中什么吃什么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15325" y="3324225"/>
            <a:ext cx="30765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随机不等于乱来：候选全部来自实时菜单、按预算分配，结算时用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真实算价（实测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件实付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¥53.40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）。可锁定满意的盘、单独重转其余。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086725" y="5048250"/>
            <a:ext cx="3533775" cy="361950"/>
          </a:xfrm>
          <a:custGeom>
            <a:pathLst>
              <a:path w="371" h="38">
                <a:moveTo>
                  <a:pt x="371" y="20"/>
                </a:moveTo>
                <a:cubicBezTo>
                  <a:pt x="371" y="30"/>
                  <a:pt x="363" y="38"/>
                  <a:pt x="353" y="38"/>
                </a:cubicBezTo>
                <a:lnTo>
                  <a:pt x="18" y="38"/>
                </a:lnTo>
                <a:cubicBezTo>
                  <a:pt x="8" y="38"/>
                  <a:pt x="0" y="30"/>
                  <a:pt x="0" y="20"/>
                </a:cubicBezTo>
                <a:lnTo>
                  <a:pt x="0" y="0"/>
                </a:lnTo>
                <a:lnTo>
                  <a:pt x="371" y="0"/>
                </a:lnTo>
                <a:close/>
              </a:path>
            </a:pathLst>
          </a:custGeom>
          <a:solidFill>
            <a:srgbClr val="FFC72C">
              <a:alpha val="35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315325" y="514350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关键词：好玩且有据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71500" y="5600700"/>
            <a:ext cx="11049000" cy="419100"/>
          </a:xfrm>
          <a:prstGeom prst="roundRect">
            <a:avLst>
              <a:gd name="adj" fmla="val 27273"/>
            </a:avLst>
          </a:prstGeom>
          <a:solidFill>
            <a:srgbClr val="DA291C">
              <a:alpha val="6000"/>
            </a:srgbClr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81050" y="571500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31F14"/>
                </a:solidFill>
                <a:latin typeface="Microsoft YaHei"/>
                <a:ea typeface="Microsoft YaHei"/>
              </a:rPr>
              <a:t>同一套真实算价内核，三种用法：求解（按结构）、权衡（想吃优先）、游戏（转盘）——对应评分里的「创新性」。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6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技术架构：三个入口，一个真实算价内核&lt;/Text&gt;&#10;    &lt;Box style={{ width: 56, height: 5, borderRadius: 3, background: '#DA291C', marginTop: 12 }} /&gt;&#10;  &lt;/Box&gt;&#10;&#10;  {/* B 内容区 */}&#10;  &lt;Box style={{ position: 'absolute', left: 60, top: 142, width: 1160, height: 250, flexDirection: 'row', alignItems: 'center', gap: 8 }}&gt;&#10;    {/* 用户 */}&#10;    &lt;Box style={{ width: 150, height: 150, background: '#FFC72C', borderRadius: 16, justifyContent: 'center', alignItems: 'center' }}&gt;&#10;      &lt;FAIcon name='users' style={{ fill: '#B31F14', width: 40, height: 40 }} /&gt;&#10;      &lt;Text style={{ fontSize: 20, fontWeight: 'bold', color: '#B31F14', marginTop: 10 }}&gt;用户&lt;/Text&gt;&#10;      &lt;Text style={{ fontSize: 13, color: '#B31F14', marginTop: 2 }}&gt;预算 + 结构&lt;/Text&gt;&#10;    &lt;/Box&gt;&#10;    &lt;FAIcon name='arrow-right' style={{ fill: '#DA291C', width: 26, height: 26 }} /&gt;&#10;    {/* 三入口 */}&#10;    &lt;Box style={{ width: 210, height: 250, borderRadius: 16, overflow: 'hidden' }}&gt;&#10;      &lt;Box style={{ background: '#DA291C', padding: '10px 0', alignItems: 'center' }}&gt;&#10;        &lt;Text style={{ fontSize: 17, fontWeight: 'bold', color: '#FFFFFF' }}&gt;三种入口&lt;/Text&gt;&#10;      &lt;/Box&gt;&#10;      &lt;Box style={{ background: 'rgba(218,41,28,0.05)', flex: 1, justifyContent: 'center' }}&gt;&#10;        &lt;Box style={{ padding: '11px 0', alignItems: 'center' }}&gt;&lt;Text style={{ fontSize: 16, fontWeight: 'bold', color: '#1A1A1A' }}&gt;🖥 网页界面&lt;/Text&gt;&lt;/Box&gt;&#10;        &lt;Box style={{ padding: '11px 0', alignItems: 'center', background: '#FFFFFF' }}&gt;&lt;Text style={{ fontSize: 16, fontWeight: 'bold', color: '#1A1A1A' }}&gt;⌨ 命令行 CLI&lt;/Text&gt;&lt;/Box&gt;&#10;        &lt;Box style={{ padding: '11px 0', alignItems: 'center' }}&gt;&lt;Text style={{ fontSize: 16, fontWeight: 'bold', color: '#1A1A1A' }}&gt;💬 对话式交互&lt;/Text&gt;&lt;/Box&gt;&#10;      &lt;/Box&gt;&#10;    &lt;/Box&gt;&#10;    &lt;FAIcon name='arrow-right' style={{ fill: '#DA291C', width: 26, height: 26 }} /&gt;&#10;    {/* 内核 */}&#10;    &lt;Box style={{ width: 220, height: 190, background: '#DA291C', borderRadius: 16, justifyContent: 'center', alignItems: 'center', padding: '0 16px' }}&gt;&#10;      &lt;FAIcon name='cog' style={{ fill: '#FFC72C', width: 36, height: 36 }} /&gt;&#10;      &lt;Text style={{ fontSize: 19, fontWeight: 'bold', color: '#FFFFFF', marginTop: 10, textAlign: 'center' }}&gt;meal_planner.py&lt;/Text&gt;&#10;      &lt;Text style={{ fontSize: 14, color: 'rgba(255,255,255,0.85)', marginTop: 6, textAlign: 'center', lineHeight: 1.5 }}&gt;候选筛选 · 结构求解&lt;br /&gt;偏好匹配 · 方案生成&lt;/Text&gt;&#10;    &lt;/Box&gt;&#10;    &lt;FAIcon name='arrow-right' style={{ fill: '#DA291C', width: 26, height: 26 }} /&gt;&#10;    {/* MCP */}&#10;    &lt;Box style={{ width: 220, height: 190, background: '#FFFFFF', border: '3px solid #DA291C', borderRadius: 16, justifyContent: 'center', alignItems: 'center', padding: '0 16px' }}&gt;&#10;      &lt;FAIcon name='plug' style={{ fill: '#DA291C', width: 36, height: 36 }} /&gt;&#10;      &lt;Text style={{ fontSize: 19, fontWeight: 'bold', color: '#1A1A1A', marginTop: 10, textAlign: 'center' }}&gt;麦当劳 MCP&lt;/Text&gt;&#10;      &lt;Text style={{ fontSize: 14, color: '#6B7280', marginTop: 6, textAlign: 'center', lineHeight: 1.5 }}&gt;mcd-mcp v1.0.0&lt;br /&gt;35 个官方工具&lt;/Text&gt;&#10;    &lt;/Box&gt;&#10;    &lt;FAIcon name='arrow-right' style={{ fill: '#DA291C', width: 26, height: 26 }} /&gt;&#10;    {/* 算价 */}&#10;    &lt;Box style={{ flex: 1, height: 190, background: '#FFC72C', borderRadius: 16, justifyContent: 'center', alignItems: 'center', padding: '0 12px' }}&gt;&#10;      &lt;FAIcon name='calculator' style={{ fill: '#B31F14', width: 36, height: 36 }} /&gt;&#10;      &lt;Text style={{ fontSize: 18, fontWeight: 'bold', color: '#B31F14', marginTop: 10, textAlign: 'center' }}&gt;calculate-price&lt;/Text&gt;&#10;      &lt;Text style={{ fontSize: 14, color: '#B31F14', marginTop: 6, textAlign: 'center', lineHeight: 1.5 }}&gt;真实算价&lt;br /&gt;成交价校准&lt;/Text&gt;&#10;    &lt;/Box&gt;&#10;  &lt;/Box&gt;&#10;&#10;  {/* 数据面注释条 */}&#10;  &lt;Box style={{ position: 'absolute', left: 60, top: 420, width: 565, height: 120, background: 'rgba(218,41,28,0.05)', borderRadius: 16, padding: '18px 24px' }}&gt;&#10;    &lt;Text style={{ fontSize: 18, fontWeight: 'bold', color: '#B31F14' }}&gt;数据面（实测口径）&lt;/Text&gt;&#10;    &lt;Text style={{ fontSize: 16, color: '#1A1A1A', marginTop: 8, lineHeight: 1.6 }}&gt;门店商品池 109 个可售商品、14 个分类；候选逐个调用 MCP 查询并算价，全部为实时返回。&lt;/Text&gt;&#10;  &lt;/Box&gt;&#10;  &lt;Box style={{ position: 'absolute', right: 60, top: 420, width: 565, height: 120, background: 'rgba(255,199,44,0.16)', borderRadius: 16, padding: '18px 24px' }}&gt;&#10;    &lt;Text style={{ fontSize: 18, fontWeight: 'bold', color: '#B31F14' }}&gt;架构里最关键的一环：calculate-price&lt;/Text&gt;&#10;    &lt;Text style={{ fontSize: 16, color: '#1A1A1A', marginTop: 8, lineHeight: 1.6 }}&gt;菜单标价只是&quot;最低价起售&quot;，成交价必须真实算出来。这一环决定了&quot;最低价&quot;三个字是否成立。&lt;/Text&gt;&#10;  &lt;/Box&gt;&#10;  &lt;Box style={{ position: 'absolute', left: 60, top: 560, width: 1160, height: 70, background: '#FFFFFF', border: '2px dashed rgba(218,41,28,0.35)', borderRadius: 14, justifyContent: 'center', padding: '0 24px' }}&gt;&#10;    &lt;Text style={{ fontSize: 15, color: '#6B7280', lineHeight: 1.6 }}&gt;网页与命令行共用同一内核；MCP Token 仅存于本地环境变量，不进页面、不入仓库。&lt;/Text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05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5829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技术架构：三个入口，一个真实算价内核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571500" y="1828800"/>
            <a:ext cx="1428750" cy="1428750"/>
          </a:xfrm>
          <a:prstGeom prst="roundRect">
            <a:avLst>
              <a:gd name="adj" fmla="val 10667"/>
            </a:avLst>
          </a:prstGeom>
          <a:solidFill>
            <a:srgbClr val="FFC72C"/>
          </a:solidFill>
          <a:ln/>
        </p:spPr>
        <p:txBody>
          <a:bodyPr/>
          <a:p/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95375" y="2105025"/>
            <a:ext cx="381000" cy="381000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095375" y="25812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52500" y="2828925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31F14"/>
                </a:solidFill>
                <a:latin typeface="Microsoft YaHei"/>
                <a:ea typeface="Microsoft YaHei"/>
              </a:rPr>
              <a:t>预算</a:t>
            </a:r>
            <a:r>
              <a:rPr lang="en-US" sz="975">
                <a:solidFill>
                  <a:srgbClr val="B31F1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B31F14"/>
                </a:solidFill>
                <a:latin typeface="Microsoft YaHei"/>
                <a:ea typeface="Microsoft YaHei"/>
              </a:rPr>
              <a:t>结构</a:t>
            </a:r>
            <a:endParaRPr/>
          </a:p>
        </p:txBody>
      </p:sp>
      <p:pic>
        <p:nvPicPr>
          <p:cNvPr id="1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076450" y="2419350"/>
            <a:ext cx="247650" cy="247650"/>
          </a:xfrm>
          <a:prstGeom prst="rect">
            <a:avLst/>
          </a:prstGeom>
          <a:ln/>
        </p:spPr>
      </p:pic>
      <p:sp>
        <p:nvSpPr>
          <p:cNvPr id="175" name=""/>
          <p:cNvSpPr/>
          <p:nvPr/>
        </p:nvSpPr>
        <p:spPr>
          <a:xfrm rot="0" flipH="0" flipV="0">
            <a:off x="2400300" y="1352550"/>
            <a:ext cx="2000250" cy="2381250"/>
          </a:xfrm>
          <a:prstGeom prst="roundRect">
            <a:avLst>
              <a:gd name="adj" fmla="val 7619"/>
            </a:avLst>
          </a:prstGeom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2400300" y="1352550"/>
            <a:ext cx="2000250" cy="390525"/>
          </a:xfrm>
          <a:custGeom>
            <a:pathLst>
              <a:path w="210" h="41">
                <a:moveTo>
                  <a:pt x="194" y="0"/>
                </a:moveTo>
                <a:cubicBezTo>
                  <a:pt x="203" y="0"/>
                  <a:pt x="210" y="7"/>
                  <a:pt x="210" y="16"/>
                </a:cubicBezTo>
                <a:lnTo>
                  <a:pt x="210" y="41"/>
                </a:lnTo>
                <a:lnTo>
                  <a:pt x="0" y="41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194" y="0"/>
                </a:lnTo>
                <a:close/>
              </a:path>
            </a:pathLst>
          </a:custGeom>
          <a:solidFill>
            <a:srgbClr val="DA291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076575" y="14478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三种入口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2400300" y="1743075"/>
            <a:ext cx="2000250" cy="1990725"/>
          </a:xfrm>
          <a:custGeom>
            <a:pathLst>
              <a:path w="210" h="209">
                <a:moveTo>
                  <a:pt x="210" y="193"/>
                </a:moveTo>
                <a:cubicBezTo>
                  <a:pt x="210" y="202"/>
                  <a:pt x="203" y="209"/>
                  <a:pt x="194" y="209"/>
                </a:cubicBezTo>
                <a:lnTo>
                  <a:pt x="16" y="209"/>
                </a:lnTo>
                <a:cubicBezTo>
                  <a:pt x="7" y="209"/>
                  <a:pt x="0" y="202"/>
                  <a:pt x="0" y="193"/>
                </a:cubicBezTo>
                <a:lnTo>
                  <a:pt x="0" y="0"/>
                </a:lnTo>
                <a:lnTo>
                  <a:pt x="210" y="0"/>
                </a:lnTo>
                <a:close/>
              </a:path>
            </a:pathLst>
          </a:cu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2924175" y="2247900"/>
            <a:ext cx="962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🖥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网页界面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2400300" y="2543175"/>
            <a:ext cx="20002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895600" y="2647950"/>
            <a:ext cx="100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⌨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命令行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 CLI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2895600" y="3048000"/>
            <a:ext cx="1019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💬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对话式交互</a:t>
            </a:r>
            <a:endParaRPr/>
          </a:p>
        </p:txBody>
      </p:sp>
      <p:pic>
        <p:nvPicPr>
          <p:cNvPr id="1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2419350"/>
            <a:ext cx="247650" cy="247650"/>
          </a:xfrm>
          <a:prstGeom prst="rect">
            <a:avLst/>
          </a:prstGeom>
          <a:ln/>
        </p:spPr>
      </p:pic>
      <p:sp>
        <p:nvSpPr>
          <p:cNvPr id="184" name=""/>
          <p:cNvSpPr/>
          <p:nvPr/>
        </p:nvSpPr>
        <p:spPr>
          <a:xfrm rot="0" flipH="0" flipV="0">
            <a:off x="4800600" y="1638300"/>
            <a:ext cx="2095500" cy="1809750"/>
          </a:xfrm>
          <a:prstGeom prst="roundRect">
            <a:avLst>
              <a:gd name="adj" fmla="val 8421"/>
            </a:avLst>
          </a:prstGeom>
          <a:solidFill>
            <a:srgbClr val="DA291C"/>
          </a:solidFill>
          <a:ln/>
        </p:spPr>
        <p:txBody>
          <a:bodyPr/>
          <a:p/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676900" y="1943100"/>
            <a:ext cx="342900" cy="342900"/>
          </a:xfrm>
          <a:prstGeom prst="rect">
            <a:avLst/>
          </a:prstGeom>
          <a:ln/>
        </p:spPr>
      </p:pic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105400" y="2381250"/>
            <a:ext cx="14859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meal_planner.py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257800" y="2657475"/>
            <a:ext cx="1181100" cy="4857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候选筛选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结构求解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偏好匹配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方案生成</a:t>
            </a:r>
            <a:endParaRPr/>
          </a:p>
        </p:txBody>
      </p:sp>
      <p:pic>
        <p:nvPicPr>
          <p:cNvPr id="1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72300" y="2419350"/>
            <a:ext cx="247650" cy="247650"/>
          </a:xfrm>
          <a:prstGeom prst="rect">
            <a:avLst/>
          </a:prstGeom>
          <a:ln/>
        </p:spPr>
      </p:pic>
      <p:sp>
        <p:nvSpPr>
          <p:cNvPr id="189" name=""/>
          <p:cNvSpPr/>
          <p:nvPr/>
        </p:nvSpPr>
        <p:spPr>
          <a:xfrm rot="0" flipH="0" flipV="0">
            <a:off x="7296150" y="1638300"/>
            <a:ext cx="209550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38100">
            <a:solidFill>
              <a:srgbClr val="DA291C"/>
            </a:solidFill>
            <a:prstDash val="solid"/>
          </a:ln>
        </p:spPr>
        <p:txBody>
          <a:bodyPr/>
          <a:p/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72450" y="1943100"/>
            <a:ext cx="342900" cy="342900"/>
          </a:xfrm>
          <a:prstGeom prst="rect">
            <a:avLst/>
          </a:prstGeom>
          <a:ln/>
        </p:spPr>
      </p:pic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829550" y="2381250"/>
            <a:ext cx="10287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麦当劳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 MCP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829550" y="2657475"/>
            <a:ext cx="1028700" cy="4857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>mcd-mcp v1.0.0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 xml:space="preserve">35 </a:t>
            </a: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个官方工具</a:t>
            </a:r>
            <a:endParaRPr/>
          </a:p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67850" y="2419350"/>
            <a:ext cx="247650" cy="247650"/>
          </a:xfrm>
          <a:prstGeom prst="rect">
            <a:avLst/>
          </a:prstGeom>
          <a:ln/>
        </p:spPr>
      </p:pic>
      <p:sp>
        <p:nvSpPr>
          <p:cNvPr id="194" name=""/>
          <p:cNvSpPr/>
          <p:nvPr/>
        </p:nvSpPr>
        <p:spPr>
          <a:xfrm rot="0" flipH="0" flipV="0">
            <a:off x="9791700" y="1638300"/>
            <a:ext cx="1828800" cy="1809750"/>
          </a:xfrm>
          <a:prstGeom prst="roundRect">
            <a:avLst>
              <a:gd name="adj" fmla="val 8421"/>
            </a:avLst>
          </a:prstGeom>
          <a:solidFill>
            <a:srgbClr val="FFC72C"/>
          </a:solidFill>
          <a:ln/>
        </p:spPr>
        <p:txBody>
          <a:bodyPr/>
          <a:p/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534650" y="1952625"/>
            <a:ext cx="342900" cy="342900"/>
          </a:xfrm>
          <a:prstGeom prst="rect">
            <a:avLst/>
          </a:prstGeom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077450" y="2390775"/>
            <a:ext cx="12668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B31F14"/>
                </a:solidFill>
                <a:latin typeface="Microsoft YaHei"/>
                <a:ea typeface="Microsoft YaHei"/>
              </a:rPr>
              <a:t>calculate-price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372725" y="2657475"/>
            <a:ext cx="666750" cy="4857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B31F14"/>
                </a:solidFill>
                <a:latin typeface="Microsoft YaHei"/>
                <a:ea typeface="Microsoft YaHei"/>
              </a:rPr>
              <a:t>真实算价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B31F14"/>
                </a:solidFill>
                <a:latin typeface="Microsoft YaHei"/>
                <a:ea typeface="Microsoft YaHei"/>
              </a:rPr>
              <a:t>成交价校准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71500" y="4000500"/>
            <a:ext cx="5381625" cy="1143000"/>
          </a:xfrm>
          <a:prstGeom prst="roundRect">
            <a:avLst>
              <a:gd name="adj" fmla="val 13333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00100" y="4171950"/>
            <a:ext cx="4924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31F14"/>
                </a:solidFill>
                <a:latin typeface="Microsoft YaHei"/>
                <a:ea typeface="Microsoft YaHei"/>
              </a:rPr>
              <a:t>数据面（实测口径）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49244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门店商品池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109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个可售商品、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14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个分类；候选逐个调用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查询并算价，全部为实时返回。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238875" y="4000500"/>
            <a:ext cx="5381625" cy="1143000"/>
          </a:xfrm>
          <a:prstGeom prst="roundRect">
            <a:avLst>
              <a:gd name="adj" fmla="val 13333"/>
            </a:avLst>
          </a:prstGeom>
          <a:solidFill>
            <a:srgbClr val="FFC72C">
              <a:alpha val="16000"/>
            </a:srgbClr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467475" y="4171950"/>
            <a:ext cx="4924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31F14"/>
                </a:solidFill>
                <a:latin typeface="Microsoft YaHei"/>
                <a:ea typeface="Microsoft YaHei"/>
              </a:rPr>
              <a:t>架构里最关键的一环：</a:t>
            </a:r>
            <a:r>
              <a:rPr lang="en-US" sz="1350" b="1">
                <a:solidFill>
                  <a:srgbClr val="B31F14"/>
                </a:solidFill>
                <a:latin typeface="Microsoft YaHei"/>
                <a:ea typeface="Microsoft YaHei"/>
              </a:rPr>
              <a:t>calculate-price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467475" y="4457700"/>
            <a:ext cx="49244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菜单标价只是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最低价起售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，成交价必须真实算出来。这一环决定了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最低价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三个字是否成立。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71500" y="5334000"/>
            <a:ext cx="11049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DA291C">
                <a:alpha val="3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00100" y="5534025"/>
            <a:ext cx="10591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网页与命令行共用同一内核；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MCP Token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仅存于本地环境变量，不进页面、不入仓库。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08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技术难点：四个真实踩过的坑&lt;/Text&gt;&#10;    &lt;Box style={{ width: 56, height: 5, borderRadius: 3, background: '#DA291C', marginTop: 12 }} /&gt;&#10;  &lt;/Box&gt;&#10;&#10;  {/* B 内容区：四条横带 */}&#10;  &lt;Box style={{ position: 'absolute', left: 60, top: 132, width: 1160, height: 456, flexDirection: 'column', gap: 12 }}&gt;&#10;    {/* ① */}&#10;    &lt;Box style={{ flex: 1, background: 'rgba(218,41,28,0.05)', borderRadius: 14, flexDirection: 'row', alignItems: 'center', padding: '0 20px', gap: 18 }}&gt;&#10;      &lt;Box style={{ width: 62, height: 62, borderRadius: 14, background: '#DA291C', justifyContent: 'center', alignItems: 'center' }}&gt;&lt;Text style={{ fontSize: 28, fontWeight: 'bold', color: '#FFFFFF' }}&gt;1&lt;/Text&gt;&lt;/Box&gt;&#10;      &lt;Box style={{ flex: 1 }}&gt;&#10;        &lt;Text style={{ fontSize: 18, fontWeight: 'bold', color: '#1A1A1A' }}&gt;菜单价 ≠ 成交价&lt;/Text&gt;&#10;        &lt;Text style={{ fontSize: 14.5, color: '#6B7280', lineHeight: 1.5, marginTop: 4 }}&gt;套餐的 currentPrice 只是「最低价起售」：实测某四件套菜单标 ¥28，calculate-price 实付 ¥52。不校准就敢叫&quot;最低价&quot;，那是假最低价。&lt;/Text&gt;&#10;      &lt;/Box&gt;&#10;      &lt;Box style={{ width: 330, background: '#FFC72C', borderRadius: 10, padding: '10px 16px' }}&gt;&#10;        &lt;Text style={{ fontSize: 15, fontWeight: 'bold', color: '#B31F14', lineHeight: 1.5 }}&gt;解法：对候选逐个调用真实算价，用成交价做单价校准后再比价。&lt;/Text&gt;&#10;      &lt;/Box&gt;&#10;    &lt;/Box&gt;&#10;    {/* ② */}&#10;    &lt;Box style={{ flex: 1, background: 'rgba(255,199,44,0.12)', borderRadius: 14, flexDirection: 'row', alignItems: 'center', padding: '0 20px', gap: 18 }}&gt;&#10;      &lt;Box style={{ width: 62, height: 62, borderRadius: 14, background: '#DA291C', justifyContent: 'center', alignItems: 'center' }}&gt;&lt;Text style={{ fontSize: 28, fontWeight: 'bold', color: '#FFFFFF' }}&gt;2&lt;/Text&gt;&lt;/Box&gt;&#10;      &lt;Box style={{ flex: 1 }}&gt;&#10;        &lt;Text style={{ fontSize: 18, fontWeight: 'bold', color: '#1A1A1A' }}&gt;canWithOrder 字段是陷阱&lt;/Text&gt;&#10;        &lt;Text style={{ fontSize: 14.5, color: '#6B7280', lineHeight: 1.5, marginTop: 4 }}&gt;109 个商品里只有 16 个标 true（全是套餐），但实测单品同样能算价下单。若把它当硬过滤，方案会全变成套餐，多样性直接归零。&lt;/Text&gt;&#10;      &lt;/Box&gt;&#10;      &lt;Box style={{ width: 330, background: '#FFFFFF', border: '2px solid #FFC72C', borderRadius: 10, padding: '10px 16px' }}&gt;&#10;        &lt;Text style={{ fontSize: 15, fontWeight: 'bold', color: '#B31F14', lineHeight: 1.5 }}&gt;解法：只作参考信号，最终以真实算价能否通过来验证可下单。&lt;/Text&gt;&#10;      &lt;/Box&gt;&#10;    &lt;/Box&gt;&#10;    {/* ③ */}&#10;    &lt;Box style={{ flex: 1, background: 'rgba(218,41,28,0.05)', borderRadius: 14, flexDirection: 'row', alignItems: 'center', padding: '0 20px', gap: 18 }}&gt;&#10;      &lt;Box style={{ width: 62, height: 62, borderRadius: 14, background: '#DA291C', justifyContent: 'center', alignItems: 'center' }}&gt;&lt;Text style={{ fontSize: 28, fontWeight: 'bold', color: '#FFFFFF' }}&gt;3&lt;/Text&gt;&lt;/Box&gt;&#10;      &lt;Box style={{ flex: 1 }}&gt;&#10;        &lt;Text style={{ fontSize: 18, fontWeight: 'bold', color: '#1A1A1A' }}&gt;价格单位是「分」，外送还有附加费&lt;/Text&gt;&#10;        &lt;Text style={{ fontSize: 14.5, color: '#6B7280', lineHeight: 1.5, marginTop: 4 }}&gt;price: 5900 其实是 ¥59.00；麦乐送还要加配送费 + 打包费。单位与附加费不处理，就会出现&quot;看着 50、实付 70&quot;。&lt;/Text&gt;&#10;      &lt;/Box&gt;&#10;      &lt;Box style={{ width: 330, background: '#FFC72C', borderRadius: 10, padding: '10px 16px' }}&gt;&#10;        &lt;Text style={{ fontSize: 15, fontWeight: 'bold', color: '#B31F14', lineHeight: 1.5 }}&gt;解法：统一「分 → 元」换算；外送场景把配送费、打包费计入总价再比。&lt;/Text&gt;&#10;      &lt;/Box&gt;&#10;    &lt;/Box&gt;&#10;    {/* ④ */}&#10;    &lt;Box style={{ flex: 1, background: 'rgba(255,199,44,0.12)', borderRadius: 14, flexDirection: 'row', alignItems: 'center', padding: '0 20px', gap: 18 }}&gt;&#10;      &lt;Box style={{ width: 62, height: 62, borderRadius: 14, background: '#DA291C', justifyContent: 'center', alignItems: 'center' }}&gt;&lt;Text style={{ fontSize: 28, fontWeight: 'bold', color: '#FFFFFF' }}&gt;4&lt;/Text&gt;&lt;/Box&gt;&#10;      &lt;Box style={{ flex: 1 }}&gt;&#10;        &lt;Text style={{ fontSize: 18, fontWeight: 'bold', color: '#1A1A1A' }}&gt;「想吃」的模糊匹配与误命中&lt;/Text&gt;&#10;        &lt;Text style={{ fontSize: 14.5, color: '#6B7280', lineHeight: 1.5, marginTop: 4 }}&gt;「想吃鸡翅」匹配不到「薄皮焦香V翅」（名字里没有&quot;鸡翅&quot;两个字）；放宽规则后，「想吃牛肉」又误命中「鸡肉堡」（去首字得&quot;肉&quot;）。&lt;/Text&gt;&#10;      &lt;/Box&gt;&#10;      &lt;Box style={{ width: 330, background: '#FFFFFF', border: '2px solid #FFC72C', borderRadius: 10, padding: '10px 16px' }}&gt;&#10;        &lt;Text style={{ fontSize: 15, fontWeight: 'bold', color: '#B31F14', lineHeight: 1.5 }}&gt;解法：三档匹配（全名 → 去尾字 → 语义词）+ 弱字符黑名单拦截误命中。&lt;/Text&gt;&#10;      &lt;/Box&gt;&#10;    &lt;/Box&gt;&#10;  &lt;/Box&gt;&#10;&#10;  {/* 复核提示条 */}&#10;  &lt;Box style={{ position: 'absolute', left: 60, top: 606, width: 1160, background: '#FFC72C', borderRadius: 12, padding: '11px 22px' }}&gt;&#10;    &lt;Text style={{ fontSize: 16, fontWeight: 'bold', color: '#B31F14' }}&gt;以上四条坑点与解法，均可在仓库源码注释与 docs/RUN_RECORD.md 中逐条复核——坑是真的踩过，价是真的算过。&lt;/Text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06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技术难点：四个真实踩过的坑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571500" y="1257300"/>
            <a:ext cx="11049000" cy="1000125"/>
          </a:xfrm>
          <a:prstGeom prst="roundRect">
            <a:avLst>
              <a:gd name="adj" fmla="val 13333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762000" y="1466850"/>
            <a:ext cx="590550" cy="590550"/>
          </a:xfrm>
          <a:prstGeom prst="roundRect">
            <a:avLst>
              <a:gd name="adj" fmla="val 22581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71550" y="1600200"/>
            <a:ext cx="171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524000" y="1381125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菜单价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成交价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524000" y="1628775"/>
            <a:ext cx="6591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套餐的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currentPrice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只是「最低价起售」：实测某四件套菜单标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¥28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，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calculate-price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实付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¥52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。不校准就敢叫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最低价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，那是假最低价。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8286750" y="1409700"/>
            <a:ext cx="3143250" cy="704850"/>
          </a:xfrm>
          <a:prstGeom prst="roundRect">
            <a:avLst>
              <a:gd name="adj" fmla="val 13514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439150" y="1504950"/>
            <a:ext cx="2838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解法：对候选逐个调用真实算价，用成交价做单价校准后再比价。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71500" y="2371725"/>
            <a:ext cx="11049000" cy="1000125"/>
          </a:xfrm>
          <a:prstGeom prst="roundRect">
            <a:avLst>
              <a:gd name="adj" fmla="val 13333"/>
            </a:avLst>
          </a:prstGeom>
          <a:solidFill>
            <a:srgbClr val="FFC72C">
              <a:alpha val="12000"/>
            </a:srgbClr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762000" y="2581275"/>
            <a:ext cx="590550" cy="590550"/>
          </a:xfrm>
          <a:prstGeom prst="roundRect">
            <a:avLst>
              <a:gd name="adj" fmla="val 22581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71550" y="2714625"/>
            <a:ext cx="171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524000" y="2495550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canWithOrder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字段是陷阱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524000" y="2743200"/>
            <a:ext cx="6591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109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个商品里只有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16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个标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true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（全是套餐），但实测单品同样能算价下单。若把它当硬过滤，方案会全变成套餐，多样性直接归零。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8286750" y="2524125"/>
            <a:ext cx="314325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25400">
            <a:solidFill>
              <a:srgbClr val="FFC72C"/>
            </a:solidFill>
            <a:prstDash val="solid"/>
          </a:ln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439150" y="2619375"/>
            <a:ext cx="2838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解法：只作参考信号，最终以真实算价能否通过来验证可下单。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571500" y="3486150"/>
            <a:ext cx="11049000" cy="1000125"/>
          </a:xfrm>
          <a:prstGeom prst="roundRect">
            <a:avLst>
              <a:gd name="adj" fmla="val 13333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762000" y="3695700"/>
            <a:ext cx="590550" cy="590550"/>
          </a:xfrm>
          <a:prstGeom prst="roundRect">
            <a:avLst>
              <a:gd name="adj" fmla="val 22581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971550" y="3829050"/>
            <a:ext cx="171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524000" y="3609975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价格单位是「分」，外送还有附加费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524000" y="3857625"/>
            <a:ext cx="6591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price: 5900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其实是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¥59.00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；麦乐送还要加配送费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打包费。单位与附加费不处理，就会出现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看着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50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、实付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70"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8286750" y="3638550"/>
            <a:ext cx="3143250" cy="704850"/>
          </a:xfrm>
          <a:prstGeom prst="roundRect">
            <a:avLst>
              <a:gd name="adj" fmla="val 13514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439150" y="3733800"/>
            <a:ext cx="2838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解法：统一「分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元」换算；外送场景把配送费、打包费计入总价再比。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" y="4600575"/>
            <a:ext cx="11049000" cy="1000125"/>
          </a:xfrm>
          <a:prstGeom prst="roundRect">
            <a:avLst>
              <a:gd name="adj" fmla="val 13333"/>
            </a:avLst>
          </a:prstGeom>
          <a:solidFill>
            <a:srgbClr val="FFC72C">
              <a:alpha val="12000"/>
            </a:srgbClr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762000" y="4810125"/>
            <a:ext cx="590550" cy="590550"/>
          </a:xfrm>
          <a:prstGeom prst="roundRect">
            <a:avLst>
              <a:gd name="adj" fmla="val 22581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71550" y="4943475"/>
            <a:ext cx="171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524000" y="4724400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「想吃」的模糊匹配与误命中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524000" y="4972050"/>
            <a:ext cx="6591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「想吃鸡翅」匹配不到「薄皮焦香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V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翅」（名字里没有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鸡翅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两个字）；放宽规则后，「想吃牛肉」又误命中「鸡肉堡」（去首字得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肉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8286750" y="4752975"/>
            <a:ext cx="314325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25400">
            <a:solidFill>
              <a:srgbClr val="FFC72C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439150" y="4848225"/>
            <a:ext cx="2838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解法：三档匹配（全名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去尾字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语义词）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弱字符黑名单拦截误命中。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571500" y="5772150"/>
            <a:ext cx="11049000" cy="400050"/>
          </a:xfrm>
          <a:prstGeom prst="roundRect">
            <a:avLst>
              <a:gd name="adj" fmla="val 28571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81050" y="5876925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31F14"/>
                </a:solidFill>
                <a:latin typeface="Microsoft YaHei"/>
                <a:ea typeface="Microsoft YaHei"/>
              </a:rPr>
              <a:t>以上四条坑点与解法，均可在仓库源码注释与</a:t>
            </a:r>
            <a:r>
              <a:rPr lang="en-US" sz="120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docs/RUN_RECORD.md </a:t>
            </a:r>
            <a:r>
              <a:rPr lang="zh-CN" sz="1200" b="1">
                <a:solidFill>
                  <a:srgbClr val="B31F14"/>
                </a:solidFill>
                <a:latin typeface="Microsoft YaHei"/>
                <a:ea typeface="Microsoft YaHei"/>
              </a:rPr>
              <a:t>中逐条复核——坑是真的踩过，价是真的算过。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真实运行证据：数字全部来自实跑记录&lt;/Text&gt;&#10;    &lt;Box style={{ width: 56, height: 5, borderRadius: 3, background: '#DA291C', marginTop: 12 }} /&gt;&#10;  &lt;/Box&gt;&#10;&#10;  {/* B 三张巨型数字卡 */}&#10;  &lt;Box style={{ position: 'absolute', left: 60, top: 134, width: 1160, height: 268, flexDirection: 'row', gap: 24 }}&gt;&#10;    {/* 卡1 */}&#10;    &lt;Box style={{ flex: 1, background: '#DA291C', borderRadius: 18, padding: '22px 26px' }}&gt;&#10;      &lt;Text style={{ fontSize: 16, color: 'rgba(255,255,255,0.85)' }}&gt;结构 1/1/1/1 · 预算 ¥100&lt;/Text&gt;&#10;      &lt;Text style={{ fontSize: 64, fontWeight: 'bold', color: '#FFFFFF', marginTop: 14, lineHeight: 1 }}&gt;¥35.00&lt;/Text&gt;&#10;      &lt;Box style={{ marginTop: 16, height: 2, background: 'rgba(255,255,255,0.3)' }} /&gt;&#10;      &lt;Text style={{ fontSize: 15, color: 'rgba(255,255,255,0.92)', marginTop: 12, lineHeight: 1.6 }}&gt;牛肉堡 13.50 + 苹果片 7.00&lt;br /&gt;+ 圆筒 5.00 + 雪碧 9.50，预算内还余 ¥65.00&lt;/Text&gt;&#10;    &lt;/Box&gt;&#10;    {/* 卡2 */}&#10;    &lt;Box style={{ flex: 1, background: '#FFC72C', borderRadius: 18, padding: '22px 26px' }}&gt;&#10;      &lt;Text style={{ fontSize: 16, color: '#B31F14' }}&gt;美食转盘随机抽 4 件&lt;/Text&gt;&#10;      &lt;Text style={{ fontSize: 64, fontWeight: 'bold', color: '#B31F14', marginTop: 14, lineHeight: 1 }}&gt;¥53.40&lt;/Text&gt;&#10;      &lt;Box style={{ marginTop: 16, height: 2, background: 'rgba(180,31,20,0.25)' }} /&gt;&#10;      &lt;Text style={{ fontSize: 15, color: '#B31F14', marginTop: 12, lineHeight: 1.6 }}&gt;原价 ¥61.50，优惠 ¥8.10——&lt;br /&gt;随机抽的组合也用 MCP 真实算价结算&lt;/Text&gt;&#10;    &lt;/Box&gt;&#10;    {/* 卡3 */}&#10;    &lt;Box style={{ flex: 1, background: '#FFFFFF', border: '3px solid #DA291C', borderRadius: 18, padding: '22px 26px' }}&gt;&#10;      &lt;Text style={{ fontSize: 16, color: '#6B7280' }}&gt;预算 ¥20 · 配 2 主食 + 2 小吃&lt;/Text&gt;&#10;      &lt;Text style={{ fontSize: 64, fontWeight: 'bold', color: '#DA291C', marginTop: 14, lineHeight: 1 }}&gt;¥41.00&lt;/Text&gt;&#10;      &lt;Box style={{ marginTop: 16, height: 2, background: 'rgba(218,41,28,0.2)' }} /&gt;&#10;      &lt;Text style={{ fontSize: 15, color: '#6B7280', marginTop: 12, lineHeight: 1.6 }}&gt;配不齐就直说：最低所需 ¥41.00、&lt;br /&gt;还差 ¥21.00——不硬凑，这就是&quot;不糊弄&quot;&lt;/Text&gt;&#10;    &lt;/Box&gt;&#10;  &lt;/Box&gt;&#10;&#10;  {/* 数据行 */}&#10;  &lt;Box style={{ position: 'absolute', left: 60, top: 426, width: 1160, height: 96, flexDirection: 'row', gap: 24 }}&gt;&#10;    &lt;Box style={{ flex: 1, background: 'rgba(218,41,28,0.05)', borderRadius: 14, padding: '16px 22px' }}&gt;&#10;      &lt;Text style={{ fontSize: 15, fontWeight: 'bold', color: '#B31F14' }}&gt;预算模式 · 4 人 ¥150 不吃辣&lt;/Text&gt;&#10;      &lt;Text style={{ fontSize: 15, color: '#1A1A1A', marginTop: 6 }}&gt;方案 A 实付 &lt;span style={{ fontSize: 20, fontWeight: 'bold', color: '#DA291C' }}&gt;¥144.60&lt;/span&gt;，人均 ¥36.15&lt;/Text&gt;&#10;    &lt;/Box&gt;&#10;    &lt;Box style={{ flex: 1, background: 'rgba(218,41,28,0.05)', borderRadius: 14, padding: '16px 22px' }}&gt;&#10;      &lt;Text style={{ fontSize: 15, fontWeight: 'bold', color: '#B31F14' }}&gt;想吃鸡翅（软偏好生效）&lt;/Text&gt;&#10;      &lt;Text style={{ fontSize: 15, color: '#1A1A1A', marginTop: 6 }}&gt;含鸡翅方案 &lt;span style={{ fontSize: 20, fontWeight: 'bold', color: '#DA291C' }}&gt;¥69.50&lt;/span&gt;；结构模式 ¥37.50，备注多花 ¥7.50&lt;/Text&gt;&#10;    &lt;/Box&gt;&#10;  &lt;/Box&gt;&#10;  &lt;Box style={{ position: 'absolute', left: 60, top: 544, width: 1160, height: 84, background: 'rgba(255,199,44,0.16)', borderRadius: 14, flexDirection: 'row', alignItems: 'center', padding: '0 30px', gap: 48 }}&gt;&#10;    &lt;Text style={{ fontSize: 17, color: '#1A1A1A' }}&gt;门店商品池：&lt;span style={{ fontSize: 22, fontWeight: 'bold', color: '#B31F14' }}&gt;109&lt;/span&gt; 个可售商品 · &lt;span style={{ fontSize: 22, fontWeight: 'bold', color: '#B31F14' }}&gt;14&lt;/span&gt; 个分类&lt;/Text&gt;&#10;    &lt;Text style={{ fontSize: 17, color: '#1A1A1A' }}&gt;麦当劳 MCP：&lt;span style={{ fontSize: 22, fontWeight: 'bold', color: '#B31F14' }}&gt;mcd-mcp v1.0.0 · 35 个工具&lt;/span&gt;&lt;/Text&gt;&#10;    &lt;Text style={{ fontSize: 14, color: '#6B7280' }}&gt;完整原始输出见仓库 docs/RUN_RECORD.md&lt;/Text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07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真实运行证据：数字全部来自实跑记录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571500" y="1276350"/>
            <a:ext cx="3533775" cy="2552700"/>
          </a:xfrm>
          <a:prstGeom prst="roundRect">
            <a:avLst>
              <a:gd name="adj" fmla="val 6716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19150" y="1485900"/>
            <a:ext cx="3038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结构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1/1/1/1 ·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预算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¥100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19150" y="1809750"/>
            <a:ext cx="3038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¥35.00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819150" y="2695575"/>
            <a:ext cx="3038475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19150" y="2828925"/>
            <a:ext cx="3038475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牛肉堡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13.50 +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苹果片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7.00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圆筒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5.00 +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雪碧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9.50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，预算内还余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¥65.00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4333875" y="1276350"/>
            <a:ext cx="3524250" cy="2552700"/>
          </a:xfrm>
          <a:prstGeom prst="roundRect">
            <a:avLst>
              <a:gd name="adj" fmla="val 6716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581525" y="1485900"/>
            <a:ext cx="3028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31F14"/>
                </a:solidFill>
                <a:latin typeface="Microsoft YaHei"/>
                <a:ea typeface="Microsoft YaHei"/>
              </a:rPr>
              <a:t>美食转盘随机抽</a:t>
            </a:r>
            <a:r>
              <a:rPr lang="en-US" sz="1200">
                <a:solidFill>
                  <a:srgbClr val="B31F14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B31F14"/>
                </a:solidFill>
                <a:latin typeface="Microsoft YaHei"/>
                <a:ea typeface="Microsoft YaHei"/>
              </a:rPr>
              <a:t>件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581525" y="1809750"/>
            <a:ext cx="30289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B31F14"/>
                </a:solidFill>
                <a:latin typeface="Microsoft YaHei"/>
                <a:ea typeface="Microsoft YaHei"/>
              </a:rPr>
              <a:t>¥53.40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4581525" y="2695575"/>
            <a:ext cx="3028950" cy="19050"/>
          </a:xfrm>
          <a:prstGeom prst="rect">
            <a:avLst/>
          </a:prstGeom>
          <a:solidFill>
            <a:srgbClr val="B41F14">
              <a:alpha val="25000"/>
            </a:srgbClr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581525" y="2828925"/>
            <a:ext cx="302895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B31F14"/>
                </a:solidFill>
                <a:latin typeface="Microsoft YaHei"/>
                <a:ea typeface="Microsoft YaHei"/>
              </a:rPr>
              <a:t>原价</a:t>
            </a:r>
            <a:r>
              <a:rPr lang="en-US" sz="1125">
                <a:solidFill>
                  <a:srgbClr val="B31F14"/>
                </a:solidFill>
                <a:latin typeface="Microsoft YaHei"/>
                <a:ea typeface="Microsoft YaHei"/>
              </a:rPr>
              <a:t xml:space="preserve"> ¥61.50</a:t>
            </a:r>
            <a:r>
              <a:rPr lang="zh-CN" sz="1125">
                <a:solidFill>
                  <a:srgbClr val="B31F14"/>
                </a:solidFill>
                <a:latin typeface="Microsoft YaHei"/>
                <a:ea typeface="Microsoft YaHei"/>
              </a:rPr>
              <a:t>，优惠</a:t>
            </a:r>
            <a:r>
              <a:rPr lang="en-US" sz="1125">
                <a:solidFill>
                  <a:srgbClr val="B31F14"/>
                </a:solidFill>
                <a:latin typeface="Microsoft YaHei"/>
                <a:ea typeface="Microsoft YaHei"/>
              </a:rPr>
              <a:t xml:space="preserve"> ¥8.10——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B31F14"/>
                </a:solidFill>
                <a:latin typeface="Microsoft YaHei"/>
                <a:ea typeface="Microsoft YaHei"/>
              </a:rPr>
              <a:t>随机抽的组合也用</a:t>
            </a:r>
            <a:r>
              <a:rPr lang="en-US" sz="1125">
                <a:solidFill>
                  <a:srgbClr val="B31F14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B31F14"/>
                </a:solidFill>
                <a:latin typeface="Microsoft YaHei"/>
                <a:ea typeface="Microsoft YaHei"/>
              </a:rPr>
              <a:t>真实算价结算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8086725" y="1276350"/>
            <a:ext cx="3533775" cy="2552700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38100">
            <a:solidFill>
              <a:srgbClr val="DA291C"/>
            </a:solidFill>
            <a:prstDash val="solid"/>
          </a:ln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334375" y="1485900"/>
            <a:ext cx="3038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预算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 xml:space="preserve"> ¥20 ·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配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主食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小吃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34375" y="1809750"/>
            <a:ext cx="3038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DA291C"/>
                </a:solidFill>
                <a:latin typeface="Microsoft YaHei"/>
                <a:ea typeface="Microsoft YaHei"/>
              </a:rPr>
              <a:t>¥41.00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8334375" y="2695575"/>
            <a:ext cx="3038475" cy="19050"/>
          </a:xfrm>
          <a:prstGeom prst="rect">
            <a:avLst/>
          </a:prstGeom>
          <a:solidFill>
            <a:srgbClr val="DA291C">
              <a:alpha val="20000"/>
            </a:srgbClr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334375" y="2828925"/>
            <a:ext cx="3038475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配不齐就直说：最低所需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¥41.00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、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还差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 ¥21.00——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不硬凑，这就是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不糊弄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71500" y="4057650"/>
            <a:ext cx="5410200" cy="914400"/>
          </a:xfrm>
          <a:prstGeom prst="roundRect">
            <a:avLst>
              <a:gd name="adj" fmla="val 14583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预算模式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· 4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人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¥150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不吃辣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81050" y="4438650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方案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实付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DA291C"/>
                </a:solidFill>
                <a:latin typeface="Microsoft YaHei"/>
                <a:ea typeface="Microsoft YaHei"/>
              </a:rPr>
              <a:t>¥144.60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，人均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¥36.15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210300" y="4057650"/>
            <a:ext cx="5410200" cy="914400"/>
          </a:xfrm>
          <a:prstGeom prst="roundRect">
            <a:avLst>
              <a:gd name="adj" fmla="val 14583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419850" y="421005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想吃鸡翅（软偏好生效）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419850" y="4438650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含鸡翅方案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DA291C"/>
                </a:solidFill>
                <a:latin typeface="Microsoft YaHei"/>
                <a:ea typeface="Microsoft YaHei"/>
              </a:rPr>
              <a:t>¥69.50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；结构模式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¥37.50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，备注多花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¥7.50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71500" y="5181600"/>
            <a:ext cx="11049000" cy="800100"/>
          </a:xfrm>
          <a:prstGeom prst="roundRect">
            <a:avLst>
              <a:gd name="adj" fmla="val 16667"/>
            </a:avLst>
          </a:prstGeom>
          <a:solidFill>
            <a:srgbClr val="FFC72C">
              <a:alpha val="16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57250" y="5457825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门店商品池：</a:t>
            </a:r>
            <a:r>
              <a:rPr lang="en-US" sz="1650" b="1">
                <a:solidFill>
                  <a:srgbClr val="B31F14"/>
                </a:solidFill>
                <a:latin typeface="Microsoft YaHei"/>
                <a:ea typeface="Microsoft YaHei"/>
              </a:rPr>
              <a:t>109</a:t>
            </a:r>
            <a:r>
              <a:rPr lang="en-US" sz="1275">
                <a:solidFill>
                  <a:srgbClr val="1A1A1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个可售商品</a:t>
            </a:r>
            <a:r>
              <a:rPr lang="en-US" sz="1275">
                <a:solidFill>
                  <a:srgbClr val="1A1A1A"/>
                </a:solidFill>
                <a:latin typeface="Microsoft YaHei"/>
                <a:ea typeface="Microsoft YaHei"/>
              </a:rPr>
              <a:t xml:space="preserve"> · </a:t>
            </a:r>
            <a:r>
              <a:rPr lang="en-US" sz="1650" b="1">
                <a:solidFill>
                  <a:srgbClr val="B31F14"/>
                </a:solidFill>
                <a:latin typeface="Microsoft YaHei"/>
                <a:ea typeface="Microsoft YaHei"/>
              </a:rPr>
              <a:t>14</a:t>
            </a:r>
            <a:r>
              <a:rPr lang="en-US" sz="1275">
                <a:solidFill>
                  <a:srgbClr val="1A1A1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个分类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391025" y="5457825"/>
            <a:ext cx="3819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麦当劳</a:t>
            </a:r>
            <a:r>
              <a:rPr lang="en-US" sz="1275">
                <a:solidFill>
                  <a:srgbClr val="1A1A1A"/>
                </a:solidFill>
                <a:latin typeface="Microsoft YaHei"/>
                <a:ea typeface="Microsoft YaHei"/>
              </a:rPr>
              <a:t xml:space="preserve"> MCP</a:t>
            </a:r>
            <a:r>
              <a:rPr lang="zh-CN" sz="1275">
                <a:solidFill>
                  <a:srgbClr val="1A1A1A"/>
                </a:solidFill>
                <a:latin typeface="Microsoft YaHei"/>
                <a:ea typeface="Microsoft YaHei"/>
              </a:rPr>
              <a:t>：</a:t>
            </a:r>
            <a:r>
              <a:rPr lang="en-US" sz="165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mcd-mcp v1.0.0 · 35 </a:t>
            </a:r>
            <a:r>
              <a:rPr lang="zh-CN" sz="1650" b="1">
                <a:solidFill>
                  <a:srgbClr val="B31F14"/>
                </a:solidFill>
                <a:latin typeface="Microsoft YaHei"/>
                <a:ea typeface="Microsoft YaHei"/>
              </a:rPr>
              <a:t>个工具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667750" y="55054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完整原始输出见仓库</a:t>
            </a: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 xml:space="preserve"> docs/RUN_RECORD.md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75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演示动线：现场这样跑给评委看&lt;/Text&gt;&#10;    &lt;Box style={{ width: 56, height: 5, borderRadius: 3, background: '#DA291C', marginTop: 12 }} /&gt;&#10;  &lt;/Box&gt;&#10;&#10;  {/* B 四步流程 */}&#10;  &lt;Box style={{ position: 'absolute', left: 60, top: 140, width: 1160, height: 330, flexDirection: 'row', gap: 20 }}&gt;&#10;    {/* 步骤1 */}&#10;    &lt;Box style={{ flex: 1, background: 'rgba(218,41,28,0.05)', borderRadius: 16, overflow: 'hidden' }}&gt;&#10;      &lt;Box style={{ background: '#DA291C', padding: '12px 20px', flexDirection: 'row', justifyContent: 'space-between', alignItems: 'center' }}&gt;&#10;        &lt;Text style={{ fontSize: 18, fontWeight: 'bold', color: '#FFFFFF' }}&gt;① 按结构出最低价&lt;/Text&gt;&#10;        &lt;Text style={{ fontSize: 13, fontWeight: 'bold', color: '#FFC72C' }}&gt;15s&lt;/Text&gt;&#10;      &lt;/Box&gt;&#10;      &lt;Box style={{ padding: '16px 20px' }}&gt;&#10;        &lt;Text style={{ fontSize: 15, color: '#1A1A1A', lineHeight: 1.65 }}&gt;输入预算 ¥100、结构 1/1/1/1，等真实算价返回——出现 ¥35.00 明细卡与&quot;为什么是它&quot;。&lt;/Text&gt;&#10;        &lt;Text style={{ fontSize: 14, color: '#6B7280', marginTop: 10, lineHeight: 1.6 }}&gt;看点：每个候选都真实算价，最低价是算出来的。&lt;/Text&gt;&#10;      &lt;/Box&gt;&#10;    &lt;/Box&gt;&#10;    {/* 步骤2 */}&#10;    &lt;Box style={{ flex: 1, background: 'rgba(255,199,44,0.10)', borderRadius: 16, overflow: 'hidden' }}&gt;&#10;      &lt;Box style={{ background: '#DA291C', padding: '12px 20px', flexDirection: 'row', justifyContent: 'space-between', alignItems: 'center' }}&gt;&#10;        &lt;Text style={{ fontSize: 18, fontWeight: 'bold', color: '#FFFFFF' }}&gt;② 帮我搭配&lt;/Text&gt;&#10;        &lt;Text style={{ fontSize: 13, fontWeight: 'bold', color: '#FFC72C' }}&gt;10s&lt;/Text&gt;&#10;      &lt;/Box&gt;&#10;      &lt;Box style={{ padding: '16px 20px' }}&gt;&#10;        &lt;Text style={{ fontSize: 15, color: '#1A1A1A', lineHeight: 1.65 }}&gt;切换预算模式，4 人 ¥150 不吃辣——给出方案 A ¥144.60、人均 ¥36.15 等多套组合。&lt;/Text&gt;&#10;        &lt;Text style={{ fontSize: 14, color: '#6B7280', marginTop: 10, lineHeight: 1.6 }}&gt;看点：同一预算有多种解法，各自带理由。&lt;/Text&gt;&#10;      &lt;/Box&gt;&#10;    &lt;/Box&gt;&#10;    {/* 步骤3 */}&#10;    &lt;Box style={{ flex: 1, background: 'rgba(218,41,28,0.05)', borderRadius: 16, overflow: 'hidden' }}&gt;&#10;      &lt;Box style={{ background: '#DA291C', padding: '12px 20px', flexDirection: 'row', justifyContent: 'space-between', alignItems: 'center' }}&gt;&#10;        &lt;Text style={{ fontSize: 18, fontWeight: 'bold', color: '#FFFFFF' }}&gt;③ 美食转盘&lt;/Text&gt;&#10;        &lt;Text style={{ fontSize: 13, fontWeight: 'bold', color: '#FFC72C' }}&gt;15s&lt;/Text&gt;&#10;      &lt;/Box&gt;&#10;      &lt;Box style={{ padding: '16px 20px' }}&gt;&#10;        &lt;Text style={{ fontSize: 15, color: '#1A1A1A', lineHeight: 1.65 }}&gt;「全部转起来」四盘错落起转、逐盘停下；勾选锁定一个，单独重转其余。&lt;/Text&gt;&#10;        &lt;Text style={{ fontSize: 14, color: '#6B7280', marginTop: 10, lineHeight: 1.6 }}&gt;看点：随机也有纪律——候选全部来自实时菜单。&lt;/Text&gt;&#10;      &lt;/Box&gt;&#10;    &lt;/Box&gt;&#10;    {/* 步骤4 */}&#10;    &lt;Box style={{ flex: 1, background: 'rgba(255,199,44,0.10)', borderRadius: 16, overflow: 'hidden' }}&gt;&#10;      &lt;Box style={{ background: '#DA291C', padding: '12px 20px', flexDirection: 'row', justifyContent: 'space-between', alignItems: 'center' }}&gt;&#10;        &lt;Text style={{ fontSize: 18, fontWeight: 'bold', color: '#FFFFFF' }}&gt;④ 结算真实价格&lt;/Text&gt;&#10;        &lt;Text style={{ fontSize: 13, fontWeight: 'bold', color: '#FFC72C' }}&gt;10s&lt;/Text&gt;&#10;      &lt;/Box&gt;&#10;      &lt;Box style={{ padding: '16px 20px' }}&gt;&#10;        &lt;Text style={{ fontSize: 15, color: '#1A1A1A', lineHeight: 1.65 }}&gt;点「就这个，算真实价格」——抽中的 4 件实付 ¥53.40（原价 ¥61.50，优惠 ¥8.10）。&lt;/Text&gt;&#10;        &lt;Text style={{ fontSize: 14, color: '#6B7280', marginTop: 10, lineHeight: 1.6 }}&gt;看点：转盘的每一单都能落到真实成交价。&lt;/Text&gt;&#10;      &lt;/Box&gt;&#10;    &lt;/Box&gt;&#10;  &lt;/Box&gt;&#10;&#10;  {/* 时间轴说明 */}&#10;  &lt;Box style={{ position: 'absolute', left: 60, top: 500, width: 1160, height: 130, background: 'rgba(218,41,28,0.05)', borderRadius: 16, padding: '18px 26px' }}&gt;&#10;    &lt;Text style={{ fontSize: 18, fontWeight: 'bold', color: '#B31F14' }}&gt;演示保障&lt;/Text&gt;&#10;    &lt;Text style={{ fontSize: 15.5, color: '#1A1A1A', marginTop: 8, lineHeight: 1.7 }}&gt;全程约 50 秒 + 缓冲；演示前预热一次可缩短 MCP 等待。三条演示命令与完整参数表见 docs/USAGE.md，评审可在命令行逐条复现同一结果；若现场网络波动，切到预先录制的备份录屏。&lt;/Text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08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演示动线：现场这样跑给评委看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571500" y="1333500"/>
            <a:ext cx="2619375" cy="3143250"/>
          </a:xfrm>
          <a:prstGeom prst="roundRect">
            <a:avLst>
              <a:gd name="adj" fmla="val 5818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571500" y="1333500"/>
            <a:ext cx="2619375" cy="438150"/>
          </a:xfrm>
          <a:custGeom>
            <a:pathLst>
              <a:path w="275" h="46">
                <a:moveTo>
                  <a:pt x="259" y="0"/>
                </a:moveTo>
                <a:cubicBezTo>
                  <a:pt x="268" y="0"/>
                  <a:pt x="275" y="7"/>
                  <a:pt x="275" y="16"/>
                </a:cubicBezTo>
                <a:lnTo>
                  <a:pt x="275" y="46"/>
                </a:lnTo>
                <a:lnTo>
                  <a:pt x="0" y="4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DA291C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62000" y="14478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按结构出最低价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2781300" y="1476375"/>
            <a:ext cx="21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C72C"/>
                </a:solidFill>
                <a:latin typeface="Microsoft YaHei"/>
                <a:ea typeface="Microsoft YaHei"/>
              </a:rPr>
              <a:t>15s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22383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输入预算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¥100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、结构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1/1/1/1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，等真实算价返回——出现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¥35.00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明细卡与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为什么是它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62000" y="2876550"/>
            <a:ext cx="2238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看点：每个候选都真实算价，最低价是算出来的。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381375" y="1333500"/>
            <a:ext cx="2619375" cy="3143250"/>
          </a:xfrm>
          <a:prstGeom prst="roundRect">
            <a:avLst>
              <a:gd name="adj" fmla="val 5818"/>
            </a:avLst>
          </a:prstGeom>
          <a:solidFill>
            <a:srgbClr val="FFC72C">
              <a:alpha val="10000"/>
            </a:srgbClr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3381375" y="1333500"/>
            <a:ext cx="2619375" cy="438150"/>
          </a:xfrm>
          <a:custGeom>
            <a:pathLst>
              <a:path w="275" h="46">
                <a:moveTo>
                  <a:pt x="259" y="0"/>
                </a:moveTo>
                <a:cubicBezTo>
                  <a:pt x="268" y="0"/>
                  <a:pt x="275" y="7"/>
                  <a:pt x="275" y="16"/>
                </a:cubicBezTo>
                <a:lnTo>
                  <a:pt x="275" y="46"/>
                </a:lnTo>
                <a:lnTo>
                  <a:pt x="0" y="4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DA291C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571875" y="14478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帮我搭配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591175" y="1476375"/>
            <a:ext cx="21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C72C"/>
                </a:solidFill>
                <a:latin typeface="Microsoft YaHei"/>
                <a:ea typeface="Microsoft YaHei"/>
              </a:rPr>
              <a:t>10s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571875" y="1924050"/>
            <a:ext cx="22383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切换预算模式，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人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¥150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不吃辣——给出方案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A ¥144.60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、人均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¥36.15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等多套组合。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571875" y="2876550"/>
            <a:ext cx="2238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看点：同一预算有多种解法，各自带理由。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191250" y="1333500"/>
            <a:ext cx="2619375" cy="3143250"/>
          </a:xfrm>
          <a:prstGeom prst="roundRect">
            <a:avLst>
              <a:gd name="adj" fmla="val 5818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6191250" y="1333500"/>
            <a:ext cx="2619375" cy="438150"/>
          </a:xfrm>
          <a:custGeom>
            <a:pathLst>
              <a:path w="275" h="46">
                <a:moveTo>
                  <a:pt x="259" y="0"/>
                </a:moveTo>
                <a:cubicBezTo>
                  <a:pt x="268" y="0"/>
                  <a:pt x="275" y="7"/>
                  <a:pt x="275" y="16"/>
                </a:cubicBezTo>
                <a:lnTo>
                  <a:pt x="275" y="46"/>
                </a:lnTo>
                <a:lnTo>
                  <a:pt x="0" y="4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DA291C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381750" y="14478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美食转盘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401050" y="1476375"/>
            <a:ext cx="21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C72C"/>
                </a:solidFill>
                <a:latin typeface="Microsoft YaHei"/>
                <a:ea typeface="Microsoft YaHei"/>
              </a:rPr>
              <a:t>15s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381750" y="1924050"/>
            <a:ext cx="22383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「全部转起来」四盘错落起转、逐盘停下；勾选锁定一个，单独重转其余。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381750" y="2876550"/>
            <a:ext cx="2238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看点：随机也有纪律——候选全部来自实时菜单。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9001125" y="1333500"/>
            <a:ext cx="2619375" cy="3143250"/>
          </a:xfrm>
          <a:prstGeom prst="roundRect">
            <a:avLst>
              <a:gd name="adj" fmla="val 5818"/>
            </a:avLst>
          </a:prstGeom>
          <a:solidFill>
            <a:srgbClr val="FFC72C">
              <a:alpha val="10000"/>
            </a:srgbClr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9001125" y="1333500"/>
            <a:ext cx="2619375" cy="438150"/>
          </a:xfrm>
          <a:custGeom>
            <a:pathLst>
              <a:path w="275" h="46">
                <a:moveTo>
                  <a:pt x="259" y="0"/>
                </a:moveTo>
                <a:cubicBezTo>
                  <a:pt x="268" y="0"/>
                  <a:pt x="275" y="7"/>
                  <a:pt x="275" y="16"/>
                </a:cubicBezTo>
                <a:lnTo>
                  <a:pt x="275" y="46"/>
                </a:lnTo>
                <a:lnTo>
                  <a:pt x="0" y="4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DA291C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191625" y="144780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结算真实价格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210925" y="1476375"/>
            <a:ext cx="21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C72C"/>
                </a:solidFill>
                <a:latin typeface="Microsoft YaHei"/>
                <a:ea typeface="Microsoft YaHei"/>
              </a:rPr>
              <a:t>10s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9191625" y="1924050"/>
            <a:ext cx="22383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点「就这个，算真实价格」——抽中的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件实付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¥53.40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（原价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¥61.50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，优惠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 xml:space="preserve"> ¥8.10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191625" y="2876550"/>
            <a:ext cx="2238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看点：转盘的每一单都能落到真实成交价。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571500" y="4762500"/>
            <a:ext cx="11049000" cy="1238250"/>
          </a:xfrm>
          <a:prstGeom prst="roundRect">
            <a:avLst>
              <a:gd name="adj" fmla="val 12308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19150" y="4933950"/>
            <a:ext cx="1055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31F14"/>
                </a:solidFill>
                <a:latin typeface="Microsoft YaHei"/>
                <a:ea typeface="Microsoft YaHei"/>
              </a:rPr>
              <a:t>演示保障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19150" y="5219700"/>
            <a:ext cx="105537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全程约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秒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缓冲；演示前预热一次可缩短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等待。三条演示命令与完整参数表见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docs/USAGE.md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，评审可在命令行逐条复现同一结果；若现场网络波动，切到预先录制的备份录屏。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8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应用价值：谁会用，能长成什么样&lt;/Text&gt;&#10;    &lt;Box style={{ width: 56, height: 5, borderRadius: 3, background: '#DA291C', marginTop: 12 }} /&gt;&#10;  &lt;/Box&gt;&#10;&#10;  {/* B 内容区 */}&#10;  &lt;Box style={{ position: 'absolute', left: 60, top: 138, width: 1160, height: 492, flexDirection: 'row', gap: 26 }}&gt;&#10;    {/* 左：谁会用 */}&#10;    &lt;Box style={{ width: 460, flexDirection: 'column', gap: 14 }}&gt;&#10;      &lt;Text style={{ fontSize: 19, fontWeight: 'bold', color: '#B31F14' }}&gt;谁会用&lt;/Text&gt;&#10;      &lt;Box style={{ background: 'rgba(218,41,28,0.05)', borderRadius: 14, padding: '16px 20px', flexDirection: 'row', gap: 14, alignItems: 'center' }}&gt;&#10;        &lt;FAIcon name='users' style={{ fill: '#DA291C', width: 30, height: 30 }} /&gt;&#10;        &lt;Box style={{ flex: 1 }}&gt;&#10;          &lt;Text style={{ fontSize: 17, fontWeight: 'bold', color: '#1A1A1A' }}&gt;聚餐组织者&lt;/Text&gt;&#10;          &lt;Text style={{ fontSize: 14, color: '#6B7280', lineHeight: 1.5, marginTop: 3 }}&gt;多人多口味，报个数就能出全员方案&lt;/Text&gt;&#10;        &lt;/Box&gt;&#10;      &lt;/Box&gt;&#10;      &lt;Box style={{ background: 'rgba(255,199,44,0.12)', borderRadius: 14, padding: '16px 20px', flexDirection: 'row', gap: 14, alignItems: 'center' }}&gt;&#10;        &lt;FAIcon name='dollar' style={{ fill: '#DA291C', width: 30, height: 30 }} /&gt;&#10;        &lt;Box style={{ flex: 1 }}&gt;&#10;          &lt;Text style={{ fontSize: 17, fontWeight: 'bold', color: '#1A1A1A' }}&gt;预算敏感的学生 / 打工人&lt;/Text&gt;&#10;          &lt;Text style={{ fontSize: 14, color: '#6B7280', lineHeight: 1.5, marginTop: 3 }}&gt;一样的钱，吃得更多更明白&lt;/Text&gt;&#10;        &lt;/Box&gt;&#10;      &lt;/Box&gt;&#10;      &lt;Box style={{ background: 'rgba(218,41,28,0.05)', borderRadius: 14, padding: '16px 20px', flexDirection: 'row', gap: 14, alignItems: 'center' }}&gt;&#10;        &lt;FAIcon name='random' style={{ fill: '#DA291C', width: 30, height: 30 }} /&gt;&#10;        &lt;Box style={{ flex: 1 }}&gt;&#10;          &lt;Text style={{ fontSize: 17, fontWeight: 'bold', color: '#1A1A1A' }}&gt;选择困难症患者&lt;/Text&gt;&#10;          &lt;Text style={{ fontSize: 14, color: '#6B7280', lineHeight: 1.5, marginTop: 3 }}&gt;转盘一转，抽中即吃，锁定重转&lt;/Text&gt;&#10;        &lt;/Box&gt;&#10;      &lt;/Box&gt;&#10;      &lt;Box style={{ background: '#FFC72C', borderRadius: 14, padding: '14px 20px' }}&gt;&#10;        &lt;Text style={{ fontSize: 15, fontWeight: 'bold', color: '#B31F14', lineHeight: 1.6 }}&gt;典型场景：宿舍夜宵拼单 · 社团破冰聚餐 · 办公室下午茶凑单&lt;/Text&gt;&#10;      &lt;/Box&gt;&#10;    &lt;/Box&gt;&#10;&#10;    {/* 右：能怎么扩展 */}&#10;    &lt;Box style={{ flex: 1, flexDirection: 'column', gap: 14 }}&gt;&#10;      &lt;Text style={{ fontSize: 19, fontWeight: 'bold', color: '#B31F14' }}&gt;能怎么扩展（架构现成，换数据源即可）&lt;/Text&gt;&#10;      &lt;Box style={{ background: '#FFFFFF', border: '2px solid rgba(218,41,28,0.25)', borderRadius: 14, padding: '16px 22px' }}&gt;&#10;        &lt;Text style={{ fontSize: 17, fontWeight: 'bold', color: '#1A1A1A' }}&gt;① 更多品牌接入&lt;/Text&gt;&#10;        &lt;Text style={{ fontSize: 14.5, color: '#6B7280', lineHeight: 1.6, marginTop: 4 }}&gt;内核只依赖「菜单 + 算价」两个 MCP 能力，换一杯奶茶、一份炸鸡的 MCP，就是&quot;奶茶省钱搭子&quot;。&lt;/Text&gt;&#10;      &lt;/Box&gt;&#10;      &lt;Box style={{ background: '#FFFFFF', border: '2px solid rgba(218,41,28,0.25)', borderRadius: 14, padding: '16px 22px' }}&gt;&#10;        &lt;Text style={{ fontSize: 17, fontWeight: 'bold', color: '#1A1A1A' }}&gt;② 更多偏好维度&lt;/Text&gt;&#10;        &lt;Text style={{ fontSize: 14.5, color: '#6B7280', lineHeight: 1.6, marginTop: 4 }}&gt;在&quot;想吃 / 忌口&quot;之外，接入低卡、高蛋白等营养偏好，让&quot;结构&quot;不止关于份数。&lt;/Text&gt;&#10;      &lt;/Box&gt;&#10;      &lt;Box style={{ background: '#FFFFFF', border: '2px solid rgba(218,41,28,0.25)', borderRadius: 14, padding: '16px 22px' }}&gt;&#10;        &lt;Text style={{ fontSize: 17, fontWeight: 'bold', color: '#1A1A1A' }}&gt;③ 更完整的聚餐链路&lt;/Text&gt;&#10;        &lt;Text style={{ fontSize: 14.5, color: '#6B7280', lineHeight: 1.6, marginTop: 4 }}&gt;多人 AA 分账、下单前确认清单，把&quot;出方案&quot;延伸到&quot;好下单&quot;。&lt;/Text&gt;&#10;      &lt;/Box&gt;&#10;      &lt;Box style={{ background: '#FFC72C', borderRadius: 14, padding: '13px 22px' }}&gt;&#10;        &lt;Text style={{ fontSize: 15, fontWeight: 'bold', color: '#B31F14', lineHeight: 1.6 }}&gt;④ 技能化：以上能力可作为对话 Skill 直接调用——本作品已按 Skill 双线参加麦当劳程序员创意开发大赛。&lt;/Text&gt;&#10;      &lt;/Box&gt;&#10;      &lt;Text style={{ fontSize: 14, color: '#9CA3AF', lineHeight: 1.6 }}&gt;①②③ 为基于现有架构的合理延伸方向，当前作品未实现、不作承诺。&lt;/Text&gt;&#10;    &lt;/Box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09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应用价值：谁会用，能长成什么样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1500" y="1314450"/>
            <a:ext cx="4381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31F14"/>
                </a:solidFill>
                <a:latin typeface="Microsoft YaHei"/>
                <a:ea typeface="Microsoft YaHei"/>
              </a:rPr>
              <a:t>谁会用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571500" y="1666875"/>
            <a:ext cx="4381500" cy="781050"/>
          </a:xfrm>
          <a:prstGeom prst="roundRect">
            <a:avLst>
              <a:gd name="adj" fmla="val 17073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pic>
        <p:nvPicPr>
          <p:cNvPr id="3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914525"/>
            <a:ext cx="285750" cy="285750"/>
          </a:xfrm>
          <a:prstGeom prst="rect">
            <a:avLst/>
          </a:prstGeom>
          <a:ln/>
        </p:spPr>
      </p:pic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81100" y="181927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聚餐组织者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81100" y="204787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多人多口味，报个数就能出全员方案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571500" y="2581275"/>
            <a:ext cx="4381500" cy="781050"/>
          </a:xfrm>
          <a:prstGeom prst="roundRect">
            <a:avLst>
              <a:gd name="adj" fmla="val 17073"/>
            </a:avLst>
          </a:prstGeom>
          <a:solidFill>
            <a:srgbClr val="FFC72C">
              <a:alpha val="12000"/>
            </a:srgbClr>
          </a:solidFill>
          <a:ln/>
        </p:spPr>
        <p:txBody>
          <a:bodyPr/>
          <a:p/>
        </p:txBody>
      </p:sp>
      <p:pic>
        <p:nvPicPr>
          <p:cNvPr id="3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2828925"/>
            <a:ext cx="285750" cy="285750"/>
          </a:xfrm>
          <a:prstGeom prst="rect">
            <a:avLst/>
          </a:prstGeom>
          <a:ln/>
        </p:spPr>
      </p:pic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81100" y="273367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预算敏感的学生</a:t>
            </a: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打工人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81100" y="296227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一样的钱，吃得更多更明白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571500" y="3495675"/>
            <a:ext cx="4381500" cy="781050"/>
          </a:xfrm>
          <a:prstGeom prst="roundRect">
            <a:avLst>
              <a:gd name="adj" fmla="val 17073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pic>
        <p:nvPicPr>
          <p:cNvPr id="3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2000" y="3743325"/>
            <a:ext cx="285750" cy="285750"/>
          </a:xfrm>
          <a:prstGeom prst="rect">
            <a:avLst/>
          </a:prstGeom>
          <a:ln/>
        </p:spPr>
      </p:pic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181100" y="364807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选择困难症患者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81100" y="387667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转盘一转，抽中即吃，锁定重转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571500" y="4410075"/>
            <a:ext cx="4381500" cy="542925"/>
          </a:xfrm>
          <a:prstGeom prst="roundRect">
            <a:avLst>
              <a:gd name="adj" fmla="val 24561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62000" y="454342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典型场景：宿舍夜宵拼单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社团破冰聚餐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办公室下午茶凑单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200650" y="1314450"/>
            <a:ext cx="6419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31F14"/>
                </a:solidFill>
                <a:latin typeface="Microsoft YaHei"/>
                <a:ea typeface="Microsoft YaHei"/>
              </a:rPr>
              <a:t>能怎么扩展（架构现成，换数据源即可）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200650" y="1666875"/>
            <a:ext cx="6419850" cy="1076325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25400">
            <a:solidFill>
              <a:srgbClr val="DA291C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410200" y="1819275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更多品牌接入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410200" y="2057400"/>
            <a:ext cx="6000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内核只依赖「菜单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算价」两个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能力，换一杯奶茶、一份炸鸡的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MCP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，就是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奶茶省钱搭子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200650" y="2876550"/>
            <a:ext cx="6419850" cy="809625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25400">
            <a:solidFill>
              <a:srgbClr val="DA291C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410200" y="3028950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更多偏好维度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410200" y="3267075"/>
            <a:ext cx="600075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在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想吃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忌口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之外，接入低卡、高蛋白等营养偏好，让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结构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不止关于份数。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5200650" y="3819525"/>
            <a:ext cx="6419850" cy="809625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25400">
            <a:solidFill>
              <a:srgbClr val="DA291C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410200" y="3971925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更完整的聚餐链路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410200" y="4210050"/>
            <a:ext cx="600075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多人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分账、下单前确认清单，把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出方案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延伸到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好下单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5200650" y="4762500"/>
            <a:ext cx="6419850" cy="800100"/>
          </a:xfrm>
          <a:prstGeom prst="roundRect">
            <a:avLst>
              <a:gd name="adj" fmla="val 16667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410200" y="4886325"/>
            <a:ext cx="6000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技能化：以上能力可作为对话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直接调用——本作品已按</a:t>
            </a:r>
            <a:r>
              <a:rPr lang="en-US" sz="1125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 b="1">
                <a:solidFill>
                  <a:srgbClr val="B31F14"/>
                </a:solidFill>
                <a:latin typeface="Microsoft YaHei"/>
                <a:ea typeface="Microsoft YaHei"/>
              </a:rPr>
              <a:t>双线参加麦当劳程序员创意开发大赛。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200650" y="5695950"/>
            <a:ext cx="6419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①②③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为基于现有架构的合理延伸方向，当前作品未实现、不作承诺。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1280, height: 720, padding: 0, background: '#FFFFFF', position: 'relative' }}&gt;&#10;  {/* A 标题块 */}&#10;  &lt;Box style={{ position: 'absolute', left: 60, top: 34 }}&gt;&#10;    &lt;Text style={{ fontSize: 34, fontWeight: 'bold', color: '#1A1A1A' }}&gt;AI 使用声明：双智能体协作开发&lt;/Text&gt;&#10;    &lt;Box style={{ width: 56, height: 5, borderRadius: 3, background: '#DA291C', marginTop: 12 }} /&gt;&#10;  &lt;/Box&gt;&#10;&#10;  {/* B 双卡 */}&#10;  &lt;Box style={{ position: 'absolute', left: 60, top: 138, width: 1160, height: 300, flexDirection: 'row', gap: 26 }}&gt;&#10;    {/* WorkBuddy */}&#10;    &lt;Box style={{ flex: 1, borderRadius: 18, overflow: 'hidden', background: 'rgba(218,41,28,0.05)' }}&gt;&#10;      &lt;Box style={{ background: '#DA291C', padding: '14px 24px', flexDirection: 'row', alignItems: 'center', gap: 14 }}&gt;&#10;        &lt;FAIcon name='robot' style={{ fill: '#FFC72C', width: 30, height: 30 }} /&gt;&#10;        &lt;Text style={{ fontSize: 20, fontWeight: 'bold', color: '#FFFFFF' }}&gt;WorkBuddy（本智能体）&lt;/Text&gt;&#10;      &lt;/Box&gt;&#10;      &lt;Box style={{ padding: '18px 24px' }}&gt;&#10;        &lt;Text style={{ fontSize: 15.5, color: '#1A1A1A', lineHeight: 1.8 }}&gt;赛道调研与参赛策略 · Skill 框架与产品定位&lt;br /&gt;Git 仓库与推送链路搭建 · MCP 配置与联调&lt;br /&gt;使用说明 / 运行记录等文档 · 转盘视觉动效 · 本 PPT&lt;/Text&gt;&#10;        &lt;Box style={{ marginTop: 14, background: 'rgba(255,199,44,0.3)', borderRadius: 10, padding: '9px 16px' }}&gt;&#10;          &lt;Text style={{ fontSize: 14, fontWeight: 'bold', color: '#B31F14' }}&gt;开发过程记录见仓库 workbuddy.md&lt;/Text&gt;&#10;        &lt;/Box&gt;&#10;      &lt;/Box&gt;&#10;    &lt;/Box&gt;&#10;    {/* DSH */}&#10;    &lt;Box style={{ flex: 1, borderRadius: 18, overflow: 'hidden', background: 'rgba(255,199,44,0.12)' }}&gt;&#10;      &lt;Box style={{ background: '#FFC72C', padding: '14px 24px', flexDirection: 'row', alignItems: 'center', gap: 14 }}&gt;&#10;        &lt;FAIcon name='microchip' style={{ fill: '#B31F14', width: 30, height: 30 }} /&gt;&#10;        &lt;Text style={{ fontSize: 20, fontWeight: 'bold', color: '#B31F14' }}&gt;DSH（DeepSeek Harness）&lt;/Text&gt;&#10;      &lt;/Box&gt;&#10;      &lt;Box style={{ padding: '18px 24px' }}&gt;&#10;        &lt;Text style={{ fontSize: 15.5, color: '#1A1A1A', lineHeight: 1.8 }}&gt;meal_planner.py 求解内核 · CLI 与网页实现&lt;br /&gt;想吃匹配 / 转盘逻辑等核心功能代码 · 团队提案&lt;br /&gt;双智能体通过共享进度板派单、认领、验收协作&lt;/Text&gt;&#10;        &lt;Box style={{ marginTop: 14, background: '#FFFFFF', borderRadius: 10, padding: '9px 16px' }}&gt;&#10;          &lt;Text style={{ fontSize: 14, fontWeight: 'bold', color: '#B31F14' }}&gt;每项任务的认领与验收记录均可追溯&lt;/Text&gt;&#10;        &lt;/Box&gt;&#10;      &lt;/Box&gt;&#10;    &lt;/Box&gt;&#10;  &lt;/Box&gt;&#10;&#10;  {/* 人工职责 */}&#10;  &lt;Box style={{ position: 'absolute', left: 60, top: 462, width: 1160, height: 86, background: '#FFFFFF', border: '2px solid #DA291C', borderRadius: 14, justifyContent: 'center', padding: '0 26px' }}&gt;&#10;    &lt;Text style={{ fontSize: 17, fontWeight: 'bold', color: '#DA291C' }}&gt;人的角色：需求确认 · 麦当劳 MCP Token 申请 · 关键方案拍板 · 成果验收&lt;/Text&gt;&#10;    &lt;Text style={{ fontSize: 14, color: '#6B7280', marginTop: 6 }}&gt;所有代码与文档由 AI 生成、经人工审核后提交；开发全程无人工代写代码。&lt;/Text&gt;&#10;  &lt;/Box&gt;&#10;&#10;  {/* 合规声明 */}&#10;  &lt;Box style={{ position: 'absolute', left: 60, top: 568, width: 1160, height: 62, background: 'rgba(255,199,44,0.16)', borderRadius: 12, justifyContent: 'center', padding: '0 26px' }}&gt;&#10;    &lt;Text style={{ fontSize: 14.5, color: '#6B7280', lineHeight: 1.6 }}&gt;合规说明：作品为赛事参赛作品，非麦当劳官方产品；价格数据来自麦当劳 MCP 实时返回，最终以官方下单页为准；MCP Token 仅存于本地环境变量，未写入任何页面与仓库。&lt;/Text&gt;&#10;  &lt;/Box&gt;&#10;&#10;  {/* C 页脚条 */}&#10;  &lt;Text style={{ position: 'absolute', left: 60, bottom: 26, fontSize: 14, color: '#9CA3AF' }}&gt;麦门省钱搭子 · WaytoAGI 1024 用餐赛道&lt;/Text&gt;&#10;  &lt;Text style={{ position: 'absolute', right: 60, bottom: 26, fontSize: 14, color: '#9CA3AF' }}&gt;10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667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使用声明：双智能体协作开发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71500" y="8286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DA291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571500" y="1314450"/>
            <a:ext cx="5400675" cy="2857500"/>
          </a:xfrm>
          <a:prstGeom prst="roundRect">
            <a:avLst>
              <a:gd name="adj" fmla="val 6000"/>
            </a:avLst>
          </a:prstGeom>
          <a:solidFill>
            <a:srgbClr val="DA291C">
              <a:alpha val="5000"/>
            </a:srgbClr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571500" y="1314450"/>
            <a:ext cx="5400675" cy="552450"/>
          </a:xfrm>
          <a:custGeom>
            <a:pathLst>
              <a:path w="567" h="58">
                <a:moveTo>
                  <a:pt x="549" y="0"/>
                </a:moveTo>
                <a:cubicBezTo>
                  <a:pt x="559" y="0"/>
                  <a:pt x="567" y="8"/>
                  <a:pt x="567" y="18"/>
                </a:cubicBezTo>
                <a:lnTo>
                  <a:pt x="567" y="58"/>
                </a:lnTo>
                <a:lnTo>
                  <a:pt x="0" y="58"/>
                </a:ln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49" y="0"/>
                </a:lnTo>
                <a:close/>
              </a:path>
            </a:pathLst>
          </a:custGeom>
          <a:solidFill>
            <a:srgbClr val="DA291C"/>
          </a:solidFill>
          <a:ln/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447800"/>
            <a:ext cx="285750" cy="285750"/>
          </a:xfrm>
          <a:prstGeom prst="rect">
            <a:avLst/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219200" y="1476375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WorkBuddy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（本智能体）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00100" y="2038350"/>
            <a:ext cx="4943475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赛道调研与参赛策略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· Skill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框架与产品定位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Git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仓库与推送链路搭建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· MCP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配置与联调</a:t>
            </a:r>
            <a:endParaRPr/>
          </a:p>
          <a:p>
            <a:pPr>
              <a:lnSpc>
                <a:spcPct val="180000"/>
              </a:lnSpc>
            </a:pP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使用说明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运行记录等文档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转盘视觉动效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本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PPT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800100" y="3133725"/>
            <a:ext cx="4943475" cy="333375"/>
          </a:xfrm>
          <a:prstGeom prst="roundRect">
            <a:avLst>
              <a:gd name="adj" fmla="val 28571"/>
            </a:avLst>
          </a:prstGeom>
          <a:solidFill>
            <a:srgbClr val="FFC72C">
              <a:alpha val="30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52500" y="3219450"/>
            <a:ext cx="463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31F14"/>
                </a:solidFill>
                <a:latin typeface="Microsoft YaHei"/>
                <a:ea typeface="Microsoft YaHei"/>
              </a:rPr>
              <a:t>开发过程记录见仓库</a:t>
            </a:r>
            <a:r>
              <a:rPr lang="en-US" sz="1050" b="1">
                <a:solidFill>
                  <a:srgbClr val="B31F14"/>
                </a:solidFill>
                <a:latin typeface="Microsoft YaHei"/>
                <a:ea typeface="Microsoft YaHei"/>
              </a:rPr>
              <a:t xml:space="preserve"> workbuddy.md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219825" y="1314450"/>
            <a:ext cx="5400675" cy="2857500"/>
          </a:xfrm>
          <a:prstGeom prst="roundRect">
            <a:avLst>
              <a:gd name="adj" fmla="val 6000"/>
            </a:avLst>
          </a:prstGeom>
          <a:solidFill>
            <a:srgbClr val="FFC72C">
              <a:alpha val="12000"/>
            </a:srgbClr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6219825" y="1314450"/>
            <a:ext cx="5400675" cy="552450"/>
          </a:xfrm>
          <a:custGeom>
            <a:pathLst>
              <a:path w="567" h="58">
                <a:moveTo>
                  <a:pt x="549" y="0"/>
                </a:moveTo>
                <a:cubicBezTo>
                  <a:pt x="559" y="0"/>
                  <a:pt x="567" y="8"/>
                  <a:pt x="567" y="18"/>
                </a:cubicBezTo>
                <a:lnTo>
                  <a:pt x="567" y="58"/>
                </a:lnTo>
                <a:lnTo>
                  <a:pt x="0" y="58"/>
                </a:ln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49" y="0"/>
                </a:lnTo>
                <a:close/>
              </a:path>
            </a:pathLst>
          </a:custGeom>
          <a:solidFill>
            <a:srgbClr val="FFC72C"/>
          </a:solidFill>
          <a:ln/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48425" y="1447800"/>
            <a:ext cx="285750" cy="28575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67525" y="1476375"/>
            <a:ext cx="2581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B31F14"/>
                </a:solidFill>
                <a:latin typeface="Microsoft YaHei"/>
                <a:ea typeface="Microsoft YaHei"/>
              </a:rPr>
              <a:t>DSH</a:t>
            </a: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（</a:t>
            </a:r>
            <a:r>
              <a:rPr lang="en-US" sz="1500" b="1">
                <a:solidFill>
                  <a:srgbClr val="B31F14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500" b="1">
                <a:solidFill>
                  <a:srgbClr val="B31F14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448425" y="2038350"/>
            <a:ext cx="4943475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meal_planner.py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求解内核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· CLI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与网页实现</a:t>
            </a:r>
            <a:endParaRPr/>
          </a:p>
          <a:p>
            <a:pPr>
              <a:lnSpc>
                <a:spcPct val="180000"/>
              </a:lnSpc>
            </a:pP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想吃匹配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转盘逻辑等核心功能代码</a:t>
            </a:r>
            <a:r>
              <a:rPr lang="en-US" sz="1163">
                <a:solidFill>
                  <a:srgbClr val="1A1A1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团队提案</a:t>
            </a:r>
            <a:endParaRPr/>
          </a:p>
          <a:p>
            <a:pPr>
              <a:lnSpc>
                <a:spcPct val="180000"/>
              </a:lnSpc>
            </a:pPr>
            <a:r>
              <a:rPr lang="zh-CN" sz="1163">
                <a:solidFill>
                  <a:srgbClr val="1A1A1A"/>
                </a:solidFill>
                <a:latin typeface="Microsoft YaHei"/>
                <a:ea typeface="Microsoft YaHei"/>
              </a:rPr>
              <a:t>双智能体通过共享进度板派单、认领、验收协作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448425" y="3133725"/>
            <a:ext cx="4943475" cy="33337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600825" y="3219450"/>
            <a:ext cx="463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31F14"/>
                </a:solidFill>
                <a:latin typeface="Microsoft YaHei"/>
                <a:ea typeface="Microsoft YaHei"/>
              </a:rPr>
              <a:t>每项任务的认领与验收记录均可追溯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71500" y="4400550"/>
            <a:ext cx="11049000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5400">
            <a:solidFill>
              <a:srgbClr val="DA291C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19150" y="4600575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A291C"/>
                </a:solidFill>
                <a:latin typeface="Microsoft YaHei"/>
                <a:ea typeface="Microsoft YaHei"/>
              </a:rPr>
              <a:t>人的角色：需求确认</a:t>
            </a:r>
            <a:r>
              <a:rPr lang="en-US" sz="1275" b="1">
                <a:solidFill>
                  <a:srgbClr val="DA291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DA291C"/>
                </a:solidFill>
                <a:latin typeface="Microsoft YaHei"/>
                <a:ea typeface="Microsoft YaHei"/>
              </a:rPr>
              <a:t>麦当劳</a:t>
            </a:r>
            <a:r>
              <a:rPr lang="en-US" sz="1275" b="1">
                <a:solidFill>
                  <a:srgbClr val="DA291C"/>
                </a:solidFill>
                <a:latin typeface="Microsoft YaHei"/>
                <a:ea typeface="Microsoft YaHei"/>
              </a:rPr>
              <a:t xml:space="preserve"> MCP Token </a:t>
            </a:r>
            <a:r>
              <a:rPr lang="zh-CN" sz="1275" b="1">
                <a:solidFill>
                  <a:srgbClr val="DA291C"/>
                </a:solidFill>
                <a:latin typeface="Microsoft YaHei"/>
                <a:ea typeface="Microsoft YaHei"/>
              </a:rPr>
              <a:t>申请</a:t>
            </a:r>
            <a:r>
              <a:rPr lang="en-US" sz="1275" b="1">
                <a:solidFill>
                  <a:srgbClr val="DA291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DA291C"/>
                </a:solidFill>
                <a:latin typeface="Microsoft YaHei"/>
                <a:ea typeface="Microsoft YaHei"/>
              </a:rPr>
              <a:t>关键方案拍板</a:t>
            </a:r>
            <a:r>
              <a:rPr lang="en-US" sz="1275" b="1">
                <a:solidFill>
                  <a:srgbClr val="DA291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DA291C"/>
                </a:solidFill>
                <a:latin typeface="Microsoft YaHei"/>
                <a:ea typeface="Microsoft YaHei"/>
              </a:rPr>
              <a:t>成果验收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9150" y="4857750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所有代码与文档由</a:t>
            </a: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生成、经人工审核后提交；开发全程无人工代写代码。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71500" y="5410200"/>
            <a:ext cx="11049000" cy="590550"/>
          </a:xfrm>
          <a:prstGeom prst="roundRect">
            <a:avLst>
              <a:gd name="adj" fmla="val 19355"/>
            </a:avLst>
          </a:prstGeom>
          <a:solidFill>
            <a:srgbClr val="FFC72C">
              <a:alpha val="16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5438775"/>
            <a:ext cx="105537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合规说明：作品为赛事参赛作品，非麦当劳官方产品；价格数据来自麦当劳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实时返回，最终以官方下单页为准；</a:t>
            </a:r>
            <a:r>
              <a:rPr lang="en-US" sz="1088">
                <a:solidFill>
                  <a:srgbClr val="6B7280"/>
                </a:solidFill>
                <a:latin typeface="Microsoft YaHei"/>
                <a:ea typeface="Microsoft YaHei"/>
              </a:rPr>
              <a:t xml:space="preserve">MCP Token </a:t>
            </a:r>
            <a:r>
              <a:rPr lang="zh-CN" sz="1088">
                <a:solidFill>
                  <a:srgbClr val="6B7280"/>
                </a:solidFill>
                <a:latin typeface="Microsoft YaHei"/>
                <a:ea typeface="Microsoft YaHei"/>
              </a:rPr>
              <a:t>仅存于本地环境变量，未写入任何页面与仓库。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麦门省钱搭子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WaytoAGI 1024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用餐赛道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4" name="" descr="&lt;Slide style={{ width: 1280, height: 720, padding: 0, background: 'linear-gradient(135deg, #DA291C 0%, #B31F14 100%)', position: 'relative', overflow: 'hidden' }}&gt;&#10;  {/* 背景装饰 */}&#10;  &lt;Box style={{ position: 'absolute', top: 40, left: 64, width: 200, height: 200, borderRadius: 100, border: '30px solid rgba(255,199,44,0.28)' }} /&gt;&#10;  &lt;Box style={{ position: 'absolute', bottom: 150, right: 70, width: 150, height: 150, borderRadius: 75, border: '26px solid rgba(255,255,255,0.12)' }} /&gt;&#10;&#10;  {/* 金句 */}&#10;  &lt;Box style={{ position: 'absolute', left: 80, top: 130, width: 1120 }}&gt;&#10;    &lt;Text style={{ fontSize: 20, color: 'rgba(255,255,255,0.85)', letterSpacing: 3 }}&gt;WaytoAGI 1024 用餐赛道 · 麦门省钱搭子&lt;/Text&gt;&#10;    &lt;Text style={{ fontSize: 76, fontWeight: 'bold', color: '#FFFFFF', marginTop: 24, lineHeight: 1.2 }}&gt;今晚这一顿，&lt;span style={{ color: '#FFC72C' }}&gt;让 MCP 替你算&lt;/span&gt;&lt;/Text&gt;&#10;    &lt;Box style={{ width: 132, height: 8, borderRadius: 4, background: '#FFC72C', marginTop: 28 }} /&gt;&#10;  &lt;/Box&gt;&#10;&#10;  {/* 仓库卡 */}&#10;  &lt;Box style={{ position: 'absolute', left: 80, bottom: 170, width: 640, background: '#FFFFFF', borderRadius: 16, padding: '22px 28px', boxShadow: '0 12px 32px rgba(0,0,0,0.25)' }}&gt;&#10;    &lt;Text style={{ fontSize: 16, color: '#9CA3AF' }}&gt;完整源码 · 运行记录 · 使用文档&lt;/Text&gt;&#10;    &lt;Text style={{ fontSize: 26, fontWeight: 'bold', color: '#1A1A1A', marginTop: 8 }}&gt;github.com/Baitao-o/-&lt;/Text&gt;&#10;    &lt;Text style={{ fontSize: 15, color: '#6B7280', marginTop: 8 }}&gt;README · docs/USAGE.md · docs/RUN_RECORD.md · workbuddy.md 均已开源&lt;/Text&gt;&#10;  &lt;/Box&gt;&#10;&#10;  {/* 免责声明 */}&#10;  &lt;Box style={{ position: 'absolute', right: 80, bottom: 170, width: 380 }}&gt;&#10;    &lt;Text style={{ fontSize: 14, color: 'rgba(255,255,255,0.75)', lineHeight: 1.8 }}&gt;价格与可售状态来自麦当劳 MCP 实时返回，最终以下单页面为准。本作品为赛事参赛作品，非麦当劳官方产品；不代下单、不涉及支付。&lt;/Text&gt;&#10;  &lt;/Box&gt;&#10;&#10;  {/* 底部署名 */}&#10;  &lt;Text style={{ position: 'absolute', left: 80, bottom: 64, fontSize: 17, color: 'rgba(255,255,255,0.75)' }}&gt;WorkBuddy × DSH 双智能体协作开发 · 谢谢观看&lt;/Text&gt;&#10;  &lt;Text style={{ position: 'absolute', right: 80, bottom: 64, fontSize: 17, color: 'rgba(255,255,255,0.75)' }}&gt;11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A291C"/>
              </a:gs>
              <a:gs pos="100000">
                <a:srgbClr val="B31F1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9600" y="381000"/>
            <a:ext cx="1905000" cy="1905000"/>
          </a:xfrm>
          <a:prstGeom prst="roundRect">
            <a:avLst>
              <a:gd name="adj" fmla="val 50000"/>
            </a:avLst>
          </a:prstGeom>
          <a:ln w="381000">
            <a:solidFill>
              <a:srgbClr val="FFC72C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10096500" y="4000500"/>
            <a:ext cx="1428750" cy="1428750"/>
          </a:xfrm>
          <a:prstGeom prst="roundRect">
            <a:avLst>
              <a:gd name="adj" fmla="val 50000"/>
            </a:avLst>
          </a:prstGeom>
          <a:ln w="3302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62000" y="1238250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WaytoAGI 1024 </a:t>
            </a:r>
            <a:r>
              <a:rPr lang="zh-CN" sz="15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用餐赛道</a:t>
            </a:r>
            <a:r>
              <a:rPr lang="en-US" sz="15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麦门省钱搭子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62000" y="1695450"/>
            <a:ext cx="10668000" cy="1047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今晚这一顿，</a:t>
            </a:r>
            <a:r>
              <a:rPr lang="zh-CN" sz="5700" b="1">
                <a:solidFill>
                  <a:srgbClr val="FFC72C"/>
                </a:solidFill>
                <a:latin typeface="Microsoft YaHei"/>
                <a:ea typeface="Microsoft YaHei"/>
              </a:rPr>
              <a:t>让</a:t>
            </a:r>
            <a:r>
              <a:rPr lang="en-US" sz="5700" b="1">
                <a:solidFill>
                  <a:srgbClr val="FFC72C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5700" b="1">
                <a:solidFill>
                  <a:srgbClr val="FFC72C"/>
                </a:solidFill>
                <a:latin typeface="Microsoft YaHei"/>
                <a:ea typeface="Microsoft YaHei"/>
              </a:rPr>
              <a:t>替你算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62000" y="3009900"/>
            <a:ext cx="1257300" cy="762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762000" y="4000500"/>
            <a:ext cx="60960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304800" dist="1143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028700" y="4210050"/>
            <a:ext cx="556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完整源码</a:t>
            </a:r>
            <a:r>
              <a:rPr lang="en-US" sz="120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运行记录</a:t>
            </a:r>
            <a:r>
              <a:rPr lang="en-US" sz="1200">
                <a:solidFill>
                  <a:srgbClr val="9CA3A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CA3AF"/>
                </a:solidFill>
                <a:latin typeface="Microsoft YaHei"/>
                <a:ea typeface="Microsoft YaHei"/>
              </a:rPr>
              <a:t>使用文档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28700" y="4476750"/>
            <a:ext cx="5562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1A1A"/>
                </a:solidFill>
                <a:latin typeface="Microsoft YaHei"/>
                <a:ea typeface="Microsoft YaHei"/>
              </a:rPr>
              <a:t>github.com/Baitao-o/-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28700" y="4857750"/>
            <a:ext cx="556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 xml:space="preserve">README · docs/USAGE.md · docs/RUN_RECORD.md · workbuddy.md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均已开源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810500" y="4371975"/>
            <a:ext cx="3619500" cy="866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价格与可售状态来自麦当劳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实时返回，最终以下单页面为准。本作品为赛事参赛作品，非麦当劳官方产品；不代下单、不涉及支付。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62000" y="6048375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WorkBuddy × DSH </a:t>
            </a:r>
            <a:r>
              <a:rPr lang="zh-CN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双智能体协作开发</a:t>
            </a:r>
            <a:r>
              <a:rPr lang="en-US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谢谢观看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877550" y="604837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2026-10-24T17:10:06Z</dcterms:created>
  <dcterms:modified xsi:type="dcterms:W3CDTF">2026-10-24T17:10:06Z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{"AIGC":{"Label":"1","ContentProducer":"00119111010856365494821B355","ProduceID":"01a16d17ba3c73e8a45e27d156ba91d4","ReservedCode1":"","ContentPropagator":"00119111010856365494821B355","PropagateID":"01a16d17ba3c73e8a45e27d156ba91d4","ReservedCode2":""}}</vt:lpwstr>
  </property>
</Properties>
</file>